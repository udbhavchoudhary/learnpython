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hyperlink" Target="https://claude.ai/artifact/C5W1hkVgR4J96ZY9ZMKkUX" TargetMode="External"/><Relationship Id="rId2" Type="http://schemas.openxmlformats.org/officeDocument/2006/relationships/hyperlink" Target="https://claude.ai/artifact/XuQpPr5kZVv5EZi6Yi8Miy" TargetMode="External"/><Relationship Id="rId3" Type="http://schemas.openxmlformats.org/officeDocument/2006/relationships/image" Target="../media/image-1-1.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claude.ai/artifact/XuQpPr5kZVv5EZi6Yi8Miy" TargetMode="Externa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5" Type="http://schemas.openxmlformats.org/officeDocument/2006/relationships/hyperlink" Target="https://claude.ai/artifact/C5W1hkVgR4J96ZY9ZMKkUX" TargetMode="External"/><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502920"/>
            <a:ext cx="5669280" cy="274320"/>
          </a:xfrm>
          <a:prstGeom prst="rect">
            <a:avLst/>
          </a:prstGeom>
          <a:noFill/>
          <a:ln/>
        </p:spPr>
        <p:txBody>
          <a:bodyPr wrap="square" lIns="0" tIns="0" rIns="0" bIns="0" rtlCol="0" anchor="t"/>
          <a:lstStyle/>
          <a:p>
            <a:pPr indent="0" marL="0">
              <a:buNone/>
            </a:pPr>
            <a:r>
              <a:rPr lang="en-US" sz="1000" b="1" spc="200" kern="0" dirty="0">
                <a:solidFill>
                  <a:srgbClr val="236CFF"/>
                </a:solidFill>
                <a:latin typeface="Arial" pitchFamily="34" charset="0"/>
                <a:ea typeface="Arial" pitchFamily="34" charset="-122"/>
                <a:cs typeface="Arial" pitchFamily="34" charset="-120"/>
              </a:rPr>
              <a:t>INTUIT ENTERPRISE SUITE  |  PM CASE STUDY</a:t>
            </a:r>
            <a:endParaRPr lang="en-US" sz="1000" dirty="0"/>
          </a:p>
        </p:txBody>
      </p:sp>
      <p:sp>
        <p:nvSpPr>
          <p:cNvPr id="3" name="Text 1"/>
          <p:cNvSpPr txBox="1"/>
          <p:nvPr/>
        </p:nvSpPr>
        <p:spPr>
          <a:xfrm>
            <a:off x="548640" y="868680"/>
            <a:ext cx="5669280" cy="914400"/>
          </a:xfrm>
          <a:prstGeom prst="rect">
            <a:avLst/>
          </a:prstGeom>
          <a:noFill/>
          <a:ln/>
        </p:spPr>
        <p:txBody>
          <a:bodyPr wrap="square" lIns="0" tIns="0" rIns="0" bIns="0" rtlCol="0" anchor="t"/>
          <a:lstStyle/>
          <a:p>
            <a:pPr indent="0" marL="0">
              <a:buNone/>
            </a:pPr>
            <a:r>
              <a:rPr lang="en-US" sz="5400" b="1" dirty="0">
                <a:solidFill>
                  <a:srgbClr val="0D1B3E"/>
                </a:solidFill>
                <a:latin typeface="Arial" pitchFamily="34" charset="0"/>
                <a:ea typeface="Arial" pitchFamily="34" charset="-122"/>
                <a:cs typeface="Arial" pitchFamily="34" charset="-120"/>
              </a:rPr>
              <a:t>Headroom</a:t>
            </a:r>
            <a:endParaRPr lang="en-US" sz="5400" dirty="0"/>
          </a:p>
        </p:txBody>
      </p:sp>
      <p:sp>
        <p:nvSpPr>
          <p:cNvPr id="4" name="Text 2"/>
          <p:cNvSpPr txBox="1"/>
          <p:nvPr/>
        </p:nvSpPr>
        <p:spPr>
          <a:xfrm>
            <a:off x="548640" y="1783080"/>
            <a:ext cx="5669280" cy="457200"/>
          </a:xfrm>
          <a:prstGeom prst="rect">
            <a:avLst/>
          </a:prstGeom>
          <a:noFill/>
          <a:ln/>
        </p:spPr>
        <p:txBody>
          <a:bodyPr wrap="square" lIns="0" tIns="0" rIns="0" bIns="0" rtlCol="0" anchor="t"/>
          <a:lstStyle/>
          <a:p>
            <a:pPr indent="0" marL="0">
              <a:buNone/>
            </a:pPr>
            <a:r>
              <a:rPr lang="en-US" sz="2000" b="1" dirty="0">
                <a:solidFill>
                  <a:srgbClr val="236CFF"/>
                </a:solidFill>
                <a:latin typeface="Arial" pitchFamily="34" charset="0"/>
                <a:ea typeface="Arial" pitchFamily="34" charset="-122"/>
                <a:cs typeface="Arial" pitchFamily="34" charset="-120"/>
              </a:rPr>
              <a:t>Grow as big as you want. Stay on IES.</a:t>
            </a:r>
            <a:endParaRPr lang="en-US" sz="2000" dirty="0"/>
          </a:p>
        </p:txBody>
      </p:sp>
      <p:sp>
        <p:nvSpPr>
          <p:cNvPr id="5" name="Text 3"/>
          <p:cNvSpPr txBox="1"/>
          <p:nvPr/>
        </p:nvSpPr>
        <p:spPr>
          <a:xfrm>
            <a:off x="548640" y="2331720"/>
            <a:ext cx="5394960" cy="822960"/>
          </a:xfrm>
          <a:prstGeom prst="rect">
            <a:avLst/>
          </a:prstGeom>
          <a:noFill/>
          <a:ln/>
        </p:spPr>
        <p:txBody>
          <a:bodyPr wrap="square" lIns="0" tIns="0" rIns="0" bIns="0" rtlCol="0" anchor="t"/>
          <a:lstStyle/>
          <a:p>
            <a:pPr indent="0" marL="0">
              <a:buNone/>
            </a:pPr>
            <a:r>
              <a:rPr lang="en-US" sz="1350" dirty="0">
                <a:solidFill>
                  <a:srgbClr val="1F2433"/>
                </a:solidFill>
                <a:latin typeface="Arial" pitchFamily="34" charset="0"/>
                <a:ea typeface="Arial" pitchFamily="34" charset="-122"/>
                <a:cs typeface="Arial" pitchFamily="34" charset="-120"/>
              </a:rPr>
              <a:t>Headroom spots when a mid-market company is about to outgrow its setup, then fixes it inside IES with verified AI agents, partner apps and Intuit experts.</a:t>
            </a:r>
            <a:endParaRPr lang="en-US" sz="1350" dirty="0"/>
          </a:p>
        </p:txBody>
      </p:sp>
      <p:sp>
        <p:nvSpPr>
          <p:cNvPr id="6" name="Shape 4"/>
          <p:cNvSpPr/>
          <p:nvPr/>
        </p:nvSpPr>
        <p:spPr>
          <a:xfrm>
            <a:off x="548640" y="3337560"/>
            <a:ext cx="5394960" cy="960120"/>
          </a:xfrm>
          <a:prstGeom prst="roundRect">
            <a:avLst>
              <a:gd name="adj" fmla="val 7619"/>
            </a:avLst>
          </a:prstGeom>
          <a:solidFill>
            <a:srgbClr val="EEF3FF"/>
          </a:solidFill>
          <a:ln w="9525">
            <a:solidFill>
              <a:srgbClr val="EEF3FF"/>
            </a:solidFill>
            <a:prstDash val="solid"/>
          </a:ln>
        </p:spPr>
      </p:sp>
      <p:sp>
        <p:nvSpPr>
          <p:cNvPr id="7" name="Text 5"/>
          <p:cNvSpPr txBox="1"/>
          <p:nvPr/>
        </p:nvSpPr>
        <p:spPr>
          <a:xfrm>
            <a:off x="777240" y="3474720"/>
            <a:ext cx="274320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VISION</a:t>
            </a:r>
            <a:endParaRPr lang="en-US" sz="950" dirty="0"/>
          </a:p>
        </p:txBody>
      </p:sp>
      <p:sp>
        <p:nvSpPr>
          <p:cNvPr id="8" name="Text 6"/>
          <p:cNvSpPr txBox="1"/>
          <p:nvPr/>
        </p:nvSpPr>
        <p:spPr>
          <a:xfrm>
            <a:off x="777240" y="3730752"/>
            <a:ext cx="4937760" cy="502920"/>
          </a:xfrm>
          <a:prstGeom prst="rect">
            <a:avLst/>
          </a:prstGeom>
          <a:noFill/>
          <a:ln/>
        </p:spPr>
        <p:txBody>
          <a:bodyPr wrap="square" lIns="0" tIns="0" rIns="0" bIns="0" rtlCol="0" anchor="t"/>
          <a:lstStyle/>
          <a:p>
            <a:pPr indent="0" marL="0">
              <a:buNone/>
            </a:pPr>
            <a:r>
              <a:rPr lang="en-US" sz="1200" dirty="0">
                <a:solidFill>
                  <a:srgbClr val="0D1B3E"/>
                </a:solidFill>
                <a:latin typeface="Arial" pitchFamily="34" charset="0"/>
                <a:ea typeface="Arial" pitchFamily="34" charset="-122"/>
                <a:cs typeface="Arial" pitchFamily="34" charset="-120"/>
              </a:rPr>
              <a:t>IES becomes the last finance platform a growing company needs. Doubling in size should never mean changing systems.</a:t>
            </a:r>
            <a:endParaRPr lang="en-US" sz="1200" dirty="0"/>
          </a:p>
        </p:txBody>
      </p:sp>
      <p:sp>
        <p:nvSpPr>
          <p:cNvPr id="9" name="Text 7"/>
          <p:cNvSpPr txBox="1"/>
          <p:nvPr/>
        </p:nvSpPr>
        <p:spPr>
          <a:xfrm>
            <a:off x="548640" y="4526280"/>
            <a:ext cx="2743200" cy="228600"/>
          </a:xfrm>
          <a:prstGeom prst="rect">
            <a:avLst/>
          </a:prstGeom>
          <a:noFill/>
          <a:ln/>
        </p:spPr>
        <p:txBody>
          <a:bodyPr wrap="square" lIns="0" tIns="0" rIns="0" bIns="0" rtlCol="0" anchor="t"/>
          <a:lstStyle/>
          <a:p>
            <a:pPr indent="0" marL="0">
              <a:buNone/>
            </a:pPr>
            <a:r>
              <a:rPr lang="en-US" sz="950" b="1" spc="150" kern="0" dirty="0">
                <a:solidFill>
                  <a:srgbClr val="5A6275"/>
                </a:solidFill>
                <a:latin typeface="Arial" pitchFamily="34" charset="0"/>
                <a:ea typeface="Arial" pitchFamily="34" charset="-122"/>
                <a:cs typeface="Arial" pitchFamily="34" charset="-120"/>
              </a:rPr>
              <a:t>ABOUT ME</a:t>
            </a:r>
            <a:endParaRPr lang="en-US" sz="950" dirty="0"/>
          </a:p>
        </p:txBody>
      </p:sp>
      <p:sp>
        <p:nvSpPr>
          <p:cNvPr id="10" name="Text 8"/>
          <p:cNvSpPr txBox="1"/>
          <p:nvPr/>
        </p:nvSpPr>
        <p:spPr>
          <a:xfrm>
            <a:off x="548640" y="4773168"/>
            <a:ext cx="5394960" cy="64008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Udbhav Choudhary. [Add 2 to 3 lines here: your degree and school, work experience, and one thing you enjoy outside work.]</a:t>
            </a:r>
            <a:endParaRPr lang="en-US" sz="1150" dirty="0"/>
          </a:p>
        </p:txBody>
      </p:sp>
      <p:sp>
        <p:nvSpPr>
          <p:cNvPr id="11" name="Text 9"/>
          <p:cNvSpPr txBox="1"/>
          <p:nvPr/>
        </p:nvSpPr>
        <p:spPr>
          <a:xfrm>
            <a:off x="548640" y="5669280"/>
            <a:ext cx="5394960" cy="320040"/>
          </a:xfrm>
          <a:prstGeom prst="rect">
            <a:avLst/>
          </a:prstGeom>
          <a:noFill/>
          <a:ln/>
        </p:spPr>
        <p:txBody>
          <a:bodyPr wrap="square" lIns="0" tIns="0" rIns="0" bIns="0" rtlCol="0" anchor="ctr"/>
          <a:lstStyle/>
          <a:p>
            <a:pPr indent="0" marL="0">
              <a:buNone/>
            </a:pPr>
            <a:r>
              <a:rPr lang="en-US" sz="1250" b="1" u="sng" dirty="0">
                <a:solidFill>
                  <a:srgbClr val="236C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Try the prototype</a:t>
            </a:r>
            <a:pPr indent="0" marL="0">
              <a:buNone/>
            </a:pPr>
            <a:r>
              <a:rPr lang="en-US" sz="1250" dirty="0">
                <a:solidFill>
                  <a:srgbClr val="8A91A3"/>
                </a:solidFill>
                <a:latin typeface="Arial" pitchFamily="34" charset="0"/>
                <a:ea typeface="Arial" pitchFamily="34" charset="-122"/>
                <a:cs typeface="Arial" pitchFamily="34" charset="-120"/>
              </a:rPr>
              <a:t>   |   </a:t>
            </a:r>
            <a:pPr indent="0" marL="0">
              <a:buNone/>
            </a:pPr>
            <a:r>
              <a:rPr lang="en-US" sz="1250" b="1" u="sng" dirty="0">
                <a:solidFill>
                  <a:srgbClr val="236CFF"/>
                </a:solidFill>
                <a:latin typeface="Arial" pitchFamily="34" charset="0"/>
                <a:ea typeface="Arial" pitchFamily="34" charset="-122"/>
                <a:cs typeface="Arial" pitchFamily="34" charset="-120"/>
                <a:hlinkClick r:id="rId2" invalidUrl="" action="" tgtFrame="" tooltip="" history="1" highlightClick="0" endSnd="0">
                  <a:extLst>
                    <a:ext uri="{A12FA001-AC4F-418D-AE19-62706E023703}">
                      <ahyp:hlinkClr xmlns:ahyp="http://schemas.microsoft.com/office/drawing/2018/hyperlinkcolor" val="tx"/>
                    </a:ext>
                  </a:extLst>
                </a:hlinkClick>
              </a:rPr>
              <a:t>Research and AI process</a:t>
            </a:r>
            <a:endParaRPr lang="en-US" sz="1250" dirty="0"/>
          </a:p>
        </p:txBody>
      </p:sp>
      <p:pic>
        <p:nvPicPr>
          <p:cNvPr id="12" name="Image 0" descr="/home/user/LearnPython/ies-headroom/deck/assets/c_home.png">    </p:cNvPr>
          <p:cNvPicPr>
            <a:picLocks noChangeAspect="1"/>
          </p:cNvPicPr>
          <p:nvPr/>
        </p:nvPicPr>
        <p:blipFill>
          <a:blip r:embed="rId3"/>
          <a:stretch>
            <a:fillRect/>
          </a:stretch>
        </p:blipFill>
        <p:spPr>
          <a:xfrm>
            <a:off x="6446520" y="1005840"/>
            <a:ext cx="5212080" cy="3257550"/>
          </a:xfrm>
          <a:prstGeom prst="rect">
            <a:avLst/>
          </a:prstGeom>
          <a:effectLst>
            <a:outerShdw sx="100000" sy="100000" kx="0" ky="0" algn="bl" rotWithShape="0" blurRad="101600" dist="25400" dir="5400000">
              <a:srgbClr val="0D1B3E">
                <a:alpha val="18000"/>
              </a:srgbClr>
            </a:outerShdw>
          </a:effectLst>
        </p:spPr>
      </p:pic>
      <p:sp>
        <p:nvSpPr>
          <p:cNvPr id="13" name="Text 10"/>
          <p:cNvSpPr txBox="1"/>
          <p:nvPr/>
        </p:nvSpPr>
        <p:spPr>
          <a:xfrm>
            <a:off x="6446520" y="4389120"/>
            <a:ext cx="5212080" cy="45720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Growth Radar in the prototype: three things this company is about to outgrow, with a fix for each.</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IES loses customers at the moment they become most valuable</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Companies join IES while they are simple. They leave when growth adds entities, currencies and new ways of charging.</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2</a:t>
            </a:r>
            <a:endParaRPr lang="en-US" sz="900" dirty="0"/>
          </a:p>
        </p:txBody>
      </p:sp>
      <p:sp>
        <p:nvSpPr>
          <p:cNvPr id="6" name="Text 4"/>
          <p:cNvSpPr txBox="1"/>
          <p:nvPr/>
        </p:nvSpPr>
        <p:spPr>
          <a:xfrm>
            <a:off x="548640" y="1508760"/>
            <a:ext cx="548640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THE PROBLEM IN ONE LINE</a:t>
            </a:r>
            <a:endParaRPr lang="en-US" sz="950" dirty="0"/>
          </a:p>
        </p:txBody>
      </p:sp>
      <p:sp>
        <p:nvSpPr>
          <p:cNvPr id="7" name="Shape 5"/>
          <p:cNvSpPr/>
          <p:nvPr/>
        </p:nvSpPr>
        <p:spPr>
          <a:xfrm>
            <a:off x="548640" y="1783080"/>
            <a:ext cx="5486400" cy="960120"/>
          </a:xfrm>
          <a:prstGeom prst="roundRect">
            <a:avLst>
              <a:gd name="adj" fmla="val 7619"/>
            </a:avLst>
          </a:prstGeom>
          <a:solidFill>
            <a:srgbClr val="EEF3FF"/>
          </a:solidFill>
          <a:ln w="9525">
            <a:solidFill>
              <a:srgbClr val="EEF3FF"/>
            </a:solidFill>
            <a:prstDash val="solid"/>
          </a:ln>
        </p:spPr>
      </p:sp>
      <p:sp>
        <p:nvSpPr>
          <p:cNvPr id="8" name="Text 6"/>
          <p:cNvSpPr txBox="1"/>
          <p:nvPr/>
        </p:nvSpPr>
        <p:spPr>
          <a:xfrm>
            <a:off x="749808" y="1920240"/>
            <a:ext cx="5120640" cy="1097280"/>
          </a:xfrm>
          <a:prstGeom prst="rect">
            <a:avLst/>
          </a:prstGeom>
          <a:noFill/>
          <a:ln/>
        </p:spPr>
        <p:txBody>
          <a:bodyPr wrap="square" lIns="0" tIns="0" rIns="0" bIns="0" rtlCol="0" anchor="t"/>
          <a:lstStyle/>
          <a:p>
            <a:pPr indent="0" marL="0">
              <a:buNone/>
            </a:pPr>
            <a:r>
              <a:rPr lang="en-US" sz="1300" dirty="0">
                <a:solidFill>
                  <a:srgbClr val="0D1B3E"/>
                </a:solidFill>
                <a:latin typeface="Arial" pitchFamily="34" charset="0"/>
                <a:ea typeface="Arial" pitchFamily="34" charset="-122"/>
                <a:cs typeface="Arial" pitchFamily="34" charset="-120"/>
              </a:rPr>
              <a:t>A growing finance team hits a new kind of complexity, handles it in spreadsheets for a few months, and then decides the only way out is a bigger ERP. IES finds out when the cancellation arrives.</a:t>
            </a:r>
            <a:endParaRPr lang="en-US" sz="1300" dirty="0"/>
          </a:p>
        </p:txBody>
      </p:sp>
      <p:sp>
        <p:nvSpPr>
          <p:cNvPr id="9" name="Text 7"/>
          <p:cNvSpPr txBox="1"/>
          <p:nvPr/>
        </p:nvSpPr>
        <p:spPr>
          <a:xfrm>
            <a:off x="548640" y="3154680"/>
            <a:ext cx="5486400" cy="228600"/>
          </a:xfrm>
          <a:prstGeom prst="rect">
            <a:avLst/>
          </a:prstGeom>
          <a:noFill/>
          <a:ln/>
        </p:spPr>
        <p:txBody>
          <a:bodyPr wrap="square" lIns="0" tIns="0" rIns="0" bIns="0" rtlCol="0" anchor="t"/>
          <a:lstStyle/>
          <a:p>
            <a:pPr indent="0" marL="0">
              <a:buNone/>
            </a:pPr>
            <a:r>
              <a:rPr lang="en-US" sz="950" b="1" spc="150" kern="0" dirty="0">
                <a:solidFill>
                  <a:srgbClr val="5A6275"/>
                </a:solidFill>
                <a:latin typeface="Arial" pitchFamily="34" charset="0"/>
                <a:ea typeface="Arial" pitchFamily="34" charset="-122"/>
                <a:cs typeface="Arial" pitchFamily="34" charset="-120"/>
              </a:rPr>
              <a:t>HOW IT FEELS FOR THE CFO</a:t>
            </a:r>
            <a:endParaRPr lang="en-US" sz="950" dirty="0"/>
          </a:p>
        </p:txBody>
      </p:sp>
      <p:sp>
        <p:nvSpPr>
          <p:cNvPr id="10" name="Text 8"/>
          <p:cNvSpPr txBox="1"/>
          <p:nvPr/>
        </p:nvSpPr>
        <p:spPr>
          <a:xfrm>
            <a:off x="548640" y="3429000"/>
            <a:ext cx="5486400" cy="1188720"/>
          </a:xfrm>
          <a:prstGeom prst="rect">
            <a:avLst/>
          </a:prstGeom>
          <a:noFill/>
          <a:ln/>
        </p:spPr>
        <p:txBody>
          <a:bodyPr wrap="square" lIns="0" tIns="0" rIns="0" bIns="0" rtlCol="0" anchor="t"/>
          <a:lstStyle/>
          <a:p>
            <a:pPr marL="152400" indent="-152400">
              <a:buSzPct val="100000"/>
              <a:buChar char="•"/>
            </a:pPr>
            <a:r>
              <a:rPr lang="en-US" sz="1200" b="1" dirty="0">
                <a:solidFill>
                  <a:srgbClr val="0D1B3E"/>
                </a:solidFill>
                <a:latin typeface="Arial" pitchFamily="34" charset="0"/>
                <a:ea typeface="Arial" pitchFamily="34" charset="-122"/>
                <a:cs typeface="Arial" pitchFamily="34" charset="-120"/>
              </a:rPr>
              <a:t>Anxious at month-end.</a:t>
            </a:r>
            <a:pPr indent="0" marL="0">
              <a:spcAft>
                <a:spcPts val="500"/>
              </a:spcAft>
              <a:buNone/>
            </a:pPr>
            <a:r>
              <a:rPr lang="en-US" sz="1200" dirty="0">
                <a:solidFill>
                  <a:srgbClr val="1F2433"/>
                </a:solidFill>
                <a:latin typeface="Arial" pitchFamily="34" charset="0"/>
                <a:ea typeface="Arial" pitchFamily="34" charset="-122"/>
                <a:cs typeface="Arial" pitchFamily="34" charset="-120"/>
              </a:rPr>
              <a:t> Close takes 9 days and half of it is spreadsheet work.</a:t>
            </a:r>
            <a:endParaRPr lang="en-US" sz="1200" dirty="0"/>
          </a:p>
          <a:p>
            <a:pPr marL="152400" indent="-152400">
              <a:buSzPct val="100000"/>
              <a:buChar char="•"/>
            </a:pPr>
            <a:r>
              <a:rPr lang="en-US" sz="1200" b="1" dirty="0">
                <a:solidFill>
                  <a:srgbClr val="0D1B3E"/>
                </a:solidFill>
                <a:latin typeface="Arial" pitchFamily="34" charset="0"/>
                <a:ea typeface="Arial" pitchFamily="34" charset="-122"/>
                <a:cs typeface="Arial" pitchFamily="34" charset="-120"/>
              </a:rPr>
              <a:t>Exposed in front of the auditor.</a:t>
            </a:r>
            <a:pPr indent="0" marL="0">
              <a:spcAft>
                <a:spcPts val="500"/>
              </a:spcAft>
              <a:buNone/>
            </a:pPr>
            <a:r>
              <a:rPr lang="en-US" sz="1200" dirty="0">
                <a:solidFill>
                  <a:srgbClr val="1F2433"/>
                </a:solidFill>
                <a:latin typeface="Arial" pitchFamily="34" charset="0"/>
                <a:ea typeface="Arial" pitchFamily="34" charset="-122"/>
                <a:cs typeface="Arial" pitchFamily="34" charset="-120"/>
              </a:rPr>
              <a:t> Revenue booked the old way gets flagged.</a:t>
            </a:r>
            <a:endParaRPr lang="en-US" sz="1200" dirty="0"/>
          </a:p>
          <a:p>
            <a:pPr marL="152400" indent="-152400">
              <a:buSzPct val="100000"/>
              <a:buChar char="•"/>
            </a:pPr>
            <a:r>
              <a:rPr lang="en-US" sz="1200" b="1" dirty="0">
                <a:solidFill>
                  <a:srgbClr val="0D1B3E"/>
                </a:solidFill>
                <a:latin typeface="Arial" pitchFamily="34" charset="0"/>
                <a:ea typeface="Arial" pitchFamily="34" charset="-122"/>
                <a:cs typeface="Arial" pitchFamily="34" charset="-120"/>
              </a:rPr>
              <a:t>Stuck.</a:t>
            </a:r>
            <a:pPr indent="0" marL="0">
              <a:spcAft>
                <a:spcPts val="500"/>
              </a:spcAft>
              <a:buNone/>
            </a:pPr>
            <a:r>
              <a:rPr lang="en-US" sz="1200" dirty="0">
                <a:solidFill>
                  <a:srgbClr val="1F2433"/>
                </a:solidFill>
                <a:latin typeface="Arial" pitchFamily="34" charset="0"/>
                <a:ea typeface="Arial" pitchFamily="34" charset="-122"/>
                <a:cs typeface="Arial" pitchFamily="34" charset="-120"/>
              </a:rPr>
              <a:t> The choices look like more spreadsheets or a 6 to 9 month ERP project.</a:t>
            </a:r>
            <a:endParaRPr lang="en-US" sz="1200" dirty="0"/>
          </a:p>
        </p:txBody>
      </p:sp>
      <p:sp>
        <p:nvSpPr>
          <p:cNvPr id="11" name="Text 9"/>
          <p:cNvSpPr txBox="1"/>
          <p:nvPr/>
        </p:nvSpPr>
        <p:spPr>
          <a:xfrm>
            <a:off x="548640" y="4937760"/>
            <a:ext cx="5486400" cy="228600"/>
          </a:xfrm>
          <a:prstGeom prst="rect">
            <a:avLst/>
          </a:prstGeom>
          <a:noFill/>
          <a:ln/>
        </p:spPr>
        <p:txBody>
          <a:bodyPr wrap="square" lIns="0" tIns="0" rIns="0" bIns="0" rtlCol="0" anchor="t"/>
          <a:lstStyle/>
          <a:p>
            <a:pPr indent="0" marL="0">
              <a:buNone/>
            </a:pPr>
            <a:r>
              <a:rPr lang="en-US" sz="950" b="1" spc="150" kern="0" dirty="0">
                <a:solidFill>
                  <a:srgbClr val="5A6275"/>
                </a:solidFill>
                <a:latin typeface="Arial" pitchFamily="34" charset="0"/>
                <a:ea typeface="Arial" pitchFamily="34" charset="-122"/>
                <a:cs typeface="Arial" pitchFamily="34" charset="-120"/>
              </a:rPr>
              <a:t>WHERE COMPLEXITY ARRIVES (TYPICAL PATH)</a:t>
            </a:r>
            <a:endParaRPr lang="en-US" sz="950" dirty="0"/>
          </a:p>
        </p:txBody>
      </p:sp>
      <p:sp>
        <p:nvSpPr>
          <p:cNvPr id="12" name="Shape 10"/>
          <p:cNvSpPr/>
          <p:nvPr/>
        </p:nvSpPr>
        <p:spPr>
          <a:xfrm>
            <a:off x="548640" y="5230368"/>
            <a:ext cx="201168" cy="201168"/>
          </a:xfrm>
          <a:prstGeom prst="ellipse">
            <a:avLst/>
          </a:prstGeom>
          <a:solidFill>
            <a:srgbClr val="236CFF"/>
          </a:solidFill>
          <a:ln w="12700">
            <a:solidFill>
              <a:srgbClr val="236CFF"/>
            </a:solidFill>
            <a:prstDash val="solid"/>
          </a:ln>
        </p:spPr>
      </p:sp>
      <p:sp>
        <p:nvSpPr>
          <p:cNvPr id="13" name="Shape 11"/>
          <p:cNvSpPr/>
          <p:nvPr/>
        </p:nvSpPr>
        <p:spPr>
          <a:xfrm>
            <a:off x="749808" y="5330952"/>
            <a:ext cx="1170432" cy="0"/>
          </a:xfrm>
          <a:prstGeom prst="line">
            <a:avLst/>
          </a:prstGeom>
          <a:noFill/>
          <a:ln w="19050">
            <a:solidFill>
              <a:srgbClr val="DCE1EB"/>
            </a:solidFill>
            <a:prstDash val="solid"/>
          </a:ln>
        </p:spPr>
      </p:sp>
      <p:sp>
        <p:nvSpPr>
          <p:cNvPr id="14" name="Text 12"/>
          <p:cNvSpPr txBox="1"/>
          <p:nvPr/>
        </p:nvSpPr>
        <p:spPr>
          <a:xfrm>
            <a:off x="548640" y="5504688"/>
            <a:ext cx="1280160" cy="228600"/>
          </a:xfrm>
          <a:prstGeom prst="rect">
            <a:avLst/>
          </a:prstGeom>
          <a:noFill/>
          <a:ln/>
        </p:spPr>
        <p:txBody>
          <a:bodyPr wrap="square" lIns="0" tIns="0" rIns="0" bIns="0" rtlCol="0" anchor="t"/>
          <a:lstStyle/>
          <a:p>
            <a:pPr indent="0" marL="0">
              <a:buNone/>
            </a:pPr>
            <a:r>
              <a:rPr lang="en-US" sz="1200" b="1" dirty="0">
                <a:solidFill>
                  <a:srgbClr val="0D1B3E"/>
                </a:solidFill>
                <a:latin typeface="Arial" pitchFamily="34" charset="0"/>
                <a:ea typeface="Arial" pitchFamily="34" charset="-122"/>
                <a:cs typeface="Arial" pitchFamily="34" charset="-120"/>
              </a:rPr>
              <a:t>$5M</a:t>
            </a:r>
            <a:endParaRPr lang="en-US" sz="1200" dirty="0"/>
          </a:p>
        </p:txBody>
      </p:sp>
      <p:sp>
        <p:nvSpPr>
          <p:cNvPr id="15" name="Text 13"/>
          <p:cNvSpPr txBox="1"/>
          <p:nvPr/>
        </p:nvSpPr>
        <p:spPr>
          <a:xfrm>
            <a:off x="548640" y="5733288"/>
            <a:ext cx="1325880" cy="27432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2nd entity</a:t>
            </a:r>
            <a:endParaRPr lang="en-US" sz="1050" dirty="0"/>
          </a:p>
        </p:txBody>
      </p:sp>
      <p:sp>
        <p:nvSpPr>
          <p:cNvPr id="16" name="Shape 14"/>
          <p:cNvSpPr/>
          <p:nvPr/>
        </p:nvSpPr>
        <p:spPr>
          <a:xfrm>
            <a:off x="1920240" y="5230368"/>
            <a:ext cx="201168" cy="201168"/>
          </a:xfrm>
          <a:prstGeom prst="ellipse">
            <a:avLst/>
          </a:prstGeom>
          <a:solidFill>
            <a:srgbClr val="236CFF"/>
          </a:solidFill>
          <a:ln w="12700">
            <a:solidFill>
              <a:srgbClr val="236CFF"/>
            </a:solidFill>
            <a:prstDash val="solid"/>
          </a:ln>
        </p:spPr>
      </p:sp>
      <p:sp>
        <p:nvSpPr>
          <p:cNvPr id="17" name="Shape 15"/>
          <p:cNvSpPr/>
          <p:nvPr/>
        </p:nvSpPr>
        <p:spPr>
          <a:xfrm>
            <a:off x="2121408" y="5330952"/>
            <a:ext cx="1170432" cy="0"/>
          </a:xfrm>
          <a:prstGeom prst="line">
            <a:avLst/>
          </a:prstGeom>
          <a:noFill/>
          <a:ln w="19050">
            <a:solidFill>
              <a:srgbClr val="DCE1EB"/>
            </a:solidFill>
            <a:prstDash val="solid"/>
          </a:ln>
        </p:spPr>
      </p:sp>
      <p:sp>
        <p:nvSpPr>
          <p:cNvPr id="18" name="Text 16"/>
          <p:cNvSpPr txBox="1"/>
          <p:nvPr/>
        </p:nvSpPr>
        <p:spPr>
          <a:xfrm>
            <a:off x="1920240" y="5504688"/>
            <a:ext cx="1280160" cy="228600"/>
          </a:xfrm>
          <a:prstGeom prst="rect">
            <a:avLst/>
          </a:prstGeom>
          <a:noFill/>
          <a:ln/>
        </p:spPr>
        <p:txBody>
          <a:bodyPr wrap="square" lIns="0" tIns="0" rIns="0" bIns="0" rtlCol="0" anchor="t"/>
          <a:lstStyle/>
          <a:p>
            <a:pPr indent="0" marL="0">
              <a:buNone/>
            </a:pPr>
            <a:r>
              <a:rPr lang="en-US" sz="1200" b="1" dirty="0">
                <a:solidFill>
                  <a:srgbClr val="0D1B3E"/>
                </a:solidFill>
                <a:latin typeface="Arial" pitchFamily="34" charset="0"/>
                <a:ea typeface="Arial" pitchFamily="34" charset="-122"/>
                <a:cs typeface="Arial" pitchFamily="34" charset="-120"/>
              </a:rPr>
              <a:t>$15M</a:t>
            </a:r>
            <a:endParaRPr lang="en-US" sz="1200" dirty="0"/>
          </a:p>
        </p:txBody>
      </p:sp>
      <p:sp>
        <p:nvSpPr>
          <p:cNvPr id="19" name="Text 17"/>
          <p:cNvSpPr txBox="1"/>
          <p:nvPr/>
        </p:nvSpPr>
        <p:spPr>
          <a:xfrm>
            <a:off x="1920240" y="5733288"/>
            <a:ext cx="1325880" cy="27432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Subscriptions</a:t>
            </a:r>
            <a:endParaRPr lang="en-US" sz="1050" dirty="0"/>
          </a:p>
        </p:txBody>
      </p:sp>
      <p:sp>
        <p:nvSpPr>
          <p:cNvPr id="20" name="Shape 18"/>
          <p:cNvSpPr/>
          <p:nvPr/>
        </p:nvSpPr>
        <p:spPr>
          <a:xfrm>
            <a:off x="3291840" y="5230368"/>
            <a:ext cx="201168" cy="201168"/>
          </a:xfrm>
          <a:prstGeom prst="ellipse">
            <a:avLst/>
          </a:prstGeom>
          <a:solidFill>
            <a:srgbClr val="236CFF"/>
          </a:solidFill>
          <a:ln w="12700">
            <a:solidFill>
              <a:srgbClr val="236CFF"/>
            </a:solidFill>
            <a:prstDash val="solid"/>
          </a:ln>
        </p:spPr>
      </p:sp>
      <p:sp>
        <p:nvSpPr>
          <p:cNvPr id="21" name="Shape 19"/>
          <p:cNvSpPr/>
          <p:nvPr/>
        </p:nvSpPr>
        <p:spPr>
          <a:xfrm>
            <a:off x="3493008" y="5330952"/>
            <a:ext cx="1170432" cy="0"/>
          </a:xfrm>
          <a:prstGeom prst="line">
            <a:avLst/>
          </a:prstGeom>
          <a:noFill/>
          <a:ln w="19050">
            <a:solidFill>
              <a:srgbClr val="DCE1EB"/>
            </a:solidFill>
            <a:prstDash val="solid"/>
          </a:ln>
        </p:spPr>
      </p:sp>
      <p:sp>
        <p:nvSpPr>
          <p:cNvPr id="22" name="Text 20"/>
          <p:cNvSpPr txBox="1"/>
          <p:nvPr/>
        </p:nvSpPr>
        <p:spPr>
          <a:xfrm>
            <a:off x="3291840" y="5504688"/>
            <a:ext cx="1280160" cy="228600"/>
          </a:xfrm>
          <a:prstGeom prst="rect">
            <a:avLst/>
          </a:prstGeom>
          <a:noFill/>
          <a:ln/>
        </p:spPr>
        <p:txBody>
          <a:bodyPr wrap="square" lIns="0" tIns="0" rIns="0" bIns="0" rtlCol="0" anchor="t"/>
          <a:lstStyle/>
          <a:p>
            <a:pPr indent="0" marL="0">
              <a:buNone/>
            </a:pPr>
            <a:r>
              <a:rPr lang="en-US" sz="1200" b="1" dirty="0">
                <a:solidFill>
                  <a:srgbClr val="0D1B3E"/>
                </a:solidFill>
                <a:latin typeface="Arial" pitchFamily="34" charset="0"/>
                <a:ea typeface="Arial" pitchFamily="34" charset="-122"/>
                <a:cs typeface="Arial" pitchFamily="34" charset="-120"/>
              </a:rPr>
              <a:t>$30M</a:t>
            </a:r>
            <a:endParaRPr lang="en-US" sz="1200" dirty="0"/>
          </a:p>
        </p:txBody>
      </p:sp>
      <p:sp>
        <p:nvSpPr>
          <p:cNvPr id="23" name="Text 21"/>
          <p:cNvSpPr txBox="1"/>
          <p:nvPr/>
        </p:nvSpPr>
        <p:spPr>
          <a:xfrm>
            <a:off x="3291840" y="5733288"/>
            <a:ext cx="1325880" cy="27432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Foreign currency</a:t>
            </a:r>
            <a:endParaRPr lang="en-US" sz="1050" dirty="0"/>
          </a:p>
        </p:txBody>
      </p:sp>
      <p:sp>
        <p:nvSpPr>
          <p:cNvPr id="24" name="Shape 22"/>
          <p:cNvSpPr/>
          <p:nvPr/>
        </p:nvSpPr>
        <p:spPr>
          <a:xfrm>
            <a:off x="4663440" y="5230368"/>
            <a:ext cx="201168" cy="201168"/>
          </a:xfrm>
          <a:prstGeom prst="ellipse">
            <a:avLst/>
          </a:prstGeom>
          <a:solidFill>
            <a:srgbClr val="C62828"/>
          </a:solidFill>
          <a:ln w="12700">
            <a:solidFill>
              <a:srgbClr val="C62828"/>
            </a:solidFill>
            <a:prstDash val="solid"/>
          </a:ln>
        </p:spPr>
      </p:sp>
      <p:sp>
        <p:nvSpPr>
          <p:cNvPr id="25" name="Text 23"/>
          <p:cNvSpPr txBox="1"/>
          <p:nvPr/>
        </p:nvSpPr>
        <p:spPr>
          <a:xfrm>
            <a:off x="4663440" y="5504688"/>
            <a:ext cx="1280160" cy="228600"/>
          </a:xfrm>
          <a:prstGeom prst="rect">
            <a:avLst/>
          </a:prstGeom>
          <a:noFill/>
          <a:ln/>
        </p:spPr>
        <p:txBody>
          <a:bodyPr wrap="square" lIns="0" tIns="0" rIns="0" bIns="0" rtlCol="0" anchor="t"/>
          <a:lstStyle/>
          <a:p>
            <a:pPr indent="0" marL="0">
              <a:buNone/>
            </a:pPr>
            <a:r>
              <a:rPr lang="en-US" sz="1200" b="1" dirty="0">
                <a:solidFill>
                  <a:srgbClr val="0D1B3E"/>
                </a:solidFill>
                <a:latin typeface="Arial" pitchFamily="34" charset="0"/>
                <a:ea typeface="Arial" pitchFamily="34" charset="-122"/>
                <a:cs typeface="Arial" pitchFamily="34" charset="-120"/>
              </a:rPr>
              <a:t>$50M</a:t>
            </a:r>
            <a:endParaRPr lang="en-US" sz="1200" dirty="0"/>
          </a:p>
        </p:txBody>
      </p:sp>
      <p:sp>
        <p:nvSpPr>
          <p:cNvPr id="26" name="Text 24"/>
          <p:cNvSpPr txBox="1"/>
          <p:nvPr/>
        </p:nvSpPr>
        <p:spPr>
          <a:xfrm>
            <a:off x="4663440" y="5733288"/>
            <a:ext cx="1325880" cy="27432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Audit, ASC 606</a:t>
            </a:r>
            <a:endParaRPr lang="en-US" sz="1050" dirty="0"/>
          </a:p>
        </p:txBody>
      </p:sp>
      <p:sp>
        <p:nvSpPr>
          <p:cNvPr id="27" name="Text 25"/>
          <p:cNvSpPr txBox="1"/>
          <p:nvPr/>
        </p:nvSpPr>
        <p:spPr>
          <a:xfrm>
            <a:off x="548640" y="6053328"/>
            <a:ext cx="5486400" cy="228600"/>
          </a:xfrm>
          <a:prstGeom prst="rect">
            <a:avLst/>
          </a:prstGeom>
          <a:noFill/>
          <a:ln/>
        </p:spPr>
        <p:txBody>
          <a:bodyPr wrap="square" lIns="0" tIns="0" rIns="0" bIns="0" rtlCol="0" anchor="t"/>
          <a:lstStyle/>
          <a:p>
            <a:pPr indent="0" marL="0">
              <a:buNone/>
            </a:pPr>
            <a:r>
              <a:rPr lang="en-US" sz="900" i="1" dirty="0">
                <a:solidFill>
                  <a:srgbClr val="8A91A3"/>
                </a:solidFill>
                <a:latin typeface="Arial" pitchFamily="34" charset="0"/>
                <a:ea typeface="Arial" pitchFamily="34" charset="-122"/>
                <a:cs typeface="Arial" pitchFamily="34" charset="-120"/>
              </a:rPr>
              <a:t>Revenue bands are assumptions based on migration guides.</a:t>
            </a:r>
            <a:endParaRPr lang="en-US" sz="900" dirty="0"/>
          </a:p>
        </p:txBody>
      </p:sp>
      <p:sp>
        <p:nvSpPr>
          <p:cNvPr id="28" name="Text 26"/>
          <p:cNvSpPr txBox="1"/>
          <p:nvPr/>
        </p:nvSpPr>
        <p:spPr>
          <a:xfrm>
            <a:off x="6492240" y="1508760"/>
            <a:ext cx="5148072"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WHAT THE RESEARCH SHOWS</a:t>
            </a:r>
            <a:endParaRPr lang="en-US" sz="950" dirty="0"/>
          </a:p>
        </p:txBody>
      </p:sp>
      <p:sp>
        <p:nvSpPr>
          <p:cNvPr id="29" name="Shape 27"/>
          <p:cNvSpPr/>
          <p:nvPr/>
        </p:nvSpPr>
        <p:spPr>
          <a:xfrm>
            <a:off x="6492240" y="1783080"/>
            <a:ext cx="5148072" cy="960120"/>
          </a:xfrm>
          <a:prstGeom prst="roundRect">
            <a:avLst>
              <a:gd name="adj" fmla="val 7619"/>
            </a:avLst>
          </a:prstGeom>
          <a:solidFill>
            <a:srgbClr val="FFFFFF"/>
          </a:solidFill>
          <a:ln w="9525">
            <a:solidFill>
              <a:srgbClr val="DCE1EB"/>
            </a:solidFill>
            <a:prstDash val="solid"/>
          </a:ln>
        </p:spPr>
      </p:sp>
      <p:sp>
        <p:nvSpPr>
          <p:cNvPr id="30" name="Text 28"/>
          <p:cNvSpPr txBox="1"/>
          <p:nvPr/>
        </p:nvSpPr>
        <p:spPr>
          <a:xfrm>
            <a:off x="6693408" y="1911096"/>
            <a:ext cx="1691640" cy="457200"/>
          </a:xfrm>
          <a:prstGeom prst="rect">
            <a:avLst/>
          </a:prstGeom>
          <a:noFill/>
          <a:ln/>
        </p:spPr>
        <p:txBody>
          <a:bodyPr wrap="square" lIns="0" tIns="0" rIns="0" bIns="0" rtlCol="0" anchor="ctr"/>
          <a:lstStyle/>
          <a:p>
            <a:pPr indent="0" marL="0">
              <a:buNone/>
            </a:pPr>
            <a:r>
              <a:rPr lang="en-US" sz="1800" b="1" dirty="0">
                <a:solidFill>
                  <a:srgbClr val="236CFF"/>
                </a:solidFill>
                <a:latin typeface="Arial" pitchFamily="34" charset="0"/>
                <a:ea typeface="Arial" pitchFamily="34" charset="-122"/>
                <a:cs typeface="Arial" pitchFamily="34" charset="-120"/>
              </a:rPr>
              <a:t>$10M to $50M</a:t>
            </a:r>
            <a:endParaRPr lang="en-US" sz="1800" dirty="0"/>
          </a:p>
        </p:txBody>
      </p:sp>
      <p:sp>
        <p:nvSpPr>
          <p:cNvPr id="31" name="Text 29"/>
          <p:cNvSpPr txBox="1"/>
          <p:nvPr/>
        </p:nvSpPr>
        <p:spPr>
          <a:xfrm>
            <a:off x="8458200" y="1892808"/>
            <a:ext cx="2999232" cy="54864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Revenue band where companies usually leave QuickBooks-class tools for NetSuite.</a:t>
            </a:r>
            <a:endParaRPr lang="en-US" sz="1150" dirty="0"/>
          </a:p>
        </p:txBody>
      </p:sp>
      <p:sp>
        <p:nvSpPr>
          <p:cNvPr id="32" name="Text 30"/>
          <p:cNvSpPr txBox="1"/>
          <p:nvPr/>
        </p:nvSpPr>
        <p:spPr>
          <a:xfrm>
            <a:off x="8458200" y="2441448"/>
            <a:ext cx="2999232" cy="228600"/>
          </a:xfrm>
          <a:prstGeom prst="rect">
            <a:avLst/>
          </a:prstGeom>
          <a:noFill/>
          <a:ln/>
        </p:spPr>
        <p:txBody>
          <a:bodyPr wrap="square" lIns="0" tIns="0" rIns="0" bIns="0" rtlCol="0" anchor="t"/>
          <a:lstStyle/>
          <a:p>
            <a:pPr indent="0" marL="0">
              <a:buNone/>
            </a:pPr>
            <a:r>
              <a:rPr lang="en-US" sz="900" dirty="0">
                <a:solidFill>
                  <a:srgbClr val="8A91A3"/>
                </a:solidFill>
                <a:latin typeface="Arial" pitchFamily="34" charset="0"/>
                <a:ea typeface="Arial" pitchFamily="34" charset="-122"/>
                <a:cs typeface="Arial" pitchFamily="34" charset="-120"/>
              </a:rPr>
              <a:t>DualEntry, Epiq migration guides</a:t>
            </a:r>
            <a:endParaRPr lang="en-US" sz="900" dirty="0"/>
          </a:p>
        </p:txBody>
      </p:sp>
      <p:sp>
        <p:nvSpPr>
          <p:cNvPr id="33" name="Shape 31"/>
          <p:cNvSpPr/>
          <p:nvPr/>
        </p:nvSpPr>
        <p:spPr>
          <a:xfrm>
            <a:off x="6492240" y="2862072"/>
            <a:ext cx="5148072" cy="960120"/>
          </a:xfrm>
          <a:prstGeom prst="roundRect">
            <a:avLst>
              <a:gd name="adj" fmla="val 7619"/>
            </a:avLst>
          </a:prstGeom>
          <a:solidFill>
            <a:srgbClr val="FFFFFF"/>
          </a:solidFill>
          <a:ln w="9525">
            <a:solidFill>
              <a:srgbClr val="DCE1EB"/>
            </a:solidFill>
            <a:prstDash val="solid"/>
          </a:ln>
        </p:spPr>
      </p:sp>
      <p:sp>
        <p:nvSpPr>
          <p:cNvPr id="34" name="Text 32"/>
          <p:cNvSpPr txBox="1"/>
          <p:nvPr/>
        </p:nvSpPr>
        <p:spPr>
          <a:xfrm>
            <a:off x="6693408" y="2990088"/>
            <a:ext cx="1691640" cy="457200"/>
          </a:xfrm>
          <a:prstGeom prst="rect">
            <a:avLst/>
          </a:prstGeom>
          <a:noFill/>
          <a:ln/>
        </p:spPr>
        <p:txBody>
          <a:bodyPr wrap="square" lIns="0" tIns="0" rIns="0" bIns="0" rtlCol="0" anchor="ctr"/>
          <a:lstStyle/>
          <a:p>
            <a:pPr indent="0" marL="0">
              <a:buNone/>
            </a:pPr>
            <a:r>
              <a:rPr lang="en-US" sz="1800" b="1" dirty="0">
                <a:solidFill>
                  <a:srgbClr val="236CFF"/>
                </a:solidFill>
                <a:latin typeface="Arial" pitchFamily="34" charset="0"/>
                <a:ea typeface="Arial" pitchFamily="34" charset="-122"/>
                <a:cs typeface="Arial" pitchFamily="34" charset="-120"/>
              </a:rPr>
              <a:t>#1 reason</a:t>
            </a:r>
            <a:endParaRPr lang="en-US" sz="1800" dirty="0"/>
          </a:p>
        </p:txBody>
      </p:sp>
      <p:sp>
        <p:nvSpPr>
          <p:cNvPr id="35" name="Text 33"/>
          <p:cNvSpPr txBox="1"/>
          <p:nvPr/>
        </p:nvSpPr>
        <p:spPr>
          <a:xfrm>
            <a:off x="8458200" y="2971800"/>
            <a:ext cx="2999232" cy="54864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Multi-entity consolidation is the most cited reason to switch. ASC 606 revenue rules come next.</a:t>
            </a:r>
            <a:endParaRPr lang="en-US" sz="1150" dirty="0"/>
          </a:p>
        </p:txBody>
      </p:sp>
      <p:sp>
        <p:nvSpPr>
          <p:cNvPr id="36" name="Text 34"/>
          <p:cNvSpPr txBox="1"/>
          <p:nvPr/>
        </p:nvSpPr>
        <p:spPr>
          <a:xfrm>
            <a:off x="8458200" y="3520440"/>
            <a:ext cx="2999232" cy="228600"/>
          </a:xfrm>
          <a:prstGeom prst="rect">
            <a:avLst/>
          </a:prstGeom>
          <a:noFill/>
          <a:ln/>
        </p:spPr>
        <p:txBody>
          <a:bodyPr wrap="square" lIns="0" tIns="0" rIns="0" bIns="0" rtlCol="0" anchor="t"/>
          <a:lstStyle/>
          <a:p>
            <a:pPr indent="0" marL="0">
              <a:buNone/>
            </a:pPr>
            <a:r>
              <a:rPr lang="en-US" sz="900" dirty="0">
                <a:solidFill>
                  <a:srgbClr val="8A91A3"/>
                </a:solidFill>
                <a:latin typeface="Arial" pitchFamily="34" charset="0"/>
                <a:ea typeface="Arial" pitchFamily="34" charset="-122"/>
                <a:cs typeface="Arial" pitchFamily="34" charset="-120"/>
              </a:rPr>
              <a:t>Epiq, Zone &amp; Co</a:t>
            </a:r>
            <a:endParaRPr lang="en-US" sz="900" dirty="0"/>
          </a:p>
        </p:txBody>
      </p:sp>
      <p:sp>
        <p:nvSpPr>
          <p:cNvPr id="37" name="Shape 35"/>
          <p:cNvSpPr/>
          <p:nvPr/>
        </p:nvSpPr>
        <p:spPr>
          <a:xfrm>
            <a:off x="6492240" y="3941064"/>
            <a:ext cx="5148072" cy="960120"/>
          </a:xfrm>
          <a:prstGeom prst="roundRect">
            <a:avLst>
              <a:gd name="adj" fmla="val 7619"/>
            </a:avLst>
          </a:prstGeom>
          <a:solidFill>
            <a:srgbClr val="FFFFFF"/>
          </a:solidFill>
          <a:ln w="9525">
            <a:solidFill>
              <a:srgbClr val="DCE1EB"/>
            </a:solidFill>
            <a:prstDash val="solid"/>
          </a:ln>
        </p:spPr>
      </p:sp>
      <p:sp>
        <p:nvSpPr>
          <p:cNvPr id="38" name="Text 36"/>
          <p:cNvSpPr txBox="1"/>
          <p:nvPr/>
        </p:nvSpPr>
        <p:spPr>
          <a:xfrm>
            <a:off x="6693408" y="4069080"/>
            <a:ext cx="1691640" cy="457200"/>
          </a:xfrm>
          <a:prstGeom prst="rect">
            <a:avLst/>
          </a:prstGeom>
          <a:noFill/>
          <a:ln/>
        </p:spPr>
        <p:txBody>
          <a:bodyPr wrap="square" lIns="0" tIns="0" rIns="0" bIns="0" rtlCol="0" anchor="ctr"/>
          <a:lstStyle/>
          <a:p>
            <a:pPr indent="0" marL="0">
              <a:buNone/>
            </a:pPr>
            <a:r>
              <a:rPr lang="en-US" sz="1800" b="1" dirty="0">
                <a:solidFill>
                  <a:srgbClr val="236CFF"/>
                </a:solidFill>
                <a:latin typeface="Arial" pitchFamily="34" charset="0"/>
                <a:ea typeface="Arial" pitchFamily="34" charset="-122"/>
                <a:cs typeface="Arial" pitchFamily="34" charset="-120"/>
              </a:rPr>
              <a:t>6+ days</a:t>
            </a:r>
            <a:endParaRPr lang="en-US" sz="1800" dirty="0"/>
          </a:p>
        </p:txBody>
      </p:sp>
      <p:sp>
        <p:nvSpPr>
          <p:cNvPr id="39" name="Text 37"/>
          <p:cNvSpPr txBox="1"/>
          <p:nvPr/>
        </p:nvSpPr>
        <p:spPr>
          <a:xfrm>
            <a:off x="8458200" y="4050792"/>
            <a:ext cx="2999232" cy="54864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Half of finance teams still need six or more business days to close. Only 18% close in three.</a:t>
            </a:r>
            <a:endParaRPr lang="en-US" sz="1150" dirty="0"/>
          </a:p>
        </p:txBody>
      </p:sp>
      <p:sp>
        <p:nvSpPr>
          <p:cNvPr id="40" name="Text 38"/>
          <p:cNvSpPr txBox="1"/>
          <p:nvPr/>
        </p:nvSpPr>
        <p:spPr>
          <a:xfrm>
            <a:off x="8458200" y="4599432"/>
            <a:ext cx="2999232" cy="228600"/>
          </a:xfrm>
          <a:prstGeom prst="rect">
            <a:avLst/>
          </a:prstGeom>
          <a:noFill/>
          <a:ln/>
        </p:spPr>
        <p:txBody>
          <a:bodyPr wrap="square" lIns="0" tIns="0" rIns="0" bIns="0" rtlCol="0" anchor="t"/>
          <a:lstStyle/>
          <a:p>
            <a:pPr indent="0" marL="0">
              <a:buNone/>
            </a:pPr>
            <a:r>
              <a:rPr lang="en-US" sz="900" dirty="0">
                <a:solidFill>
                  <a:srgbClr val="8A91A3"/>
                </a:solidFill>
                <a:latin typeface="Arial" pitchFamily="34" charset="0"/>
                <a:ea typeface="Arial" pitchFamily="34" charset="-122"/>
                <a:cs typeface="Arial" pitchFamily="34" charset="-120"/>
              </a:rPr>
              <a:t>Ledge, 2025 close benchmarks</a:t>
            </a:r>
            <a:endParaRPr lang="en-US" sz="900" dirty="0"/>
          </a:p>
        </p:txBody>
      </p:sp>
      <p:sp>
        <p:nvSpPr>
          <p:cNvPr id="41" name="Shape 39"/>
          <p:cNvSpPr/>
          <p:nvPr/>
        </p:nvSpPr>
        <p:spPr>
          <a:xfrm>
            <a:off x="6492240" y="5020056"/>
            <a:ext cx="5148072" cy="960120"/>
          </a:xfrm>
          <a:prstGeom prst="roundRect">
            <a:avLst>
              <a:gd name="adj" fmla="val 7619"/>
            </a:avLst>
          </a:prstGeom>
          <a:solidFill>
            <a:srgbClr val="FFFFFF"/>
          </a:solidFill>
          <a:ln w="9525">
            <a:solidFill>
              <a:srgbClr val="DCE1EB"/>
            </a:solidFill>
            <a:prstDash val="solid"/>
          </a:ln>
        </p:spPr>
      </p:sp>
      <p:sp>
        <p:nvSpPr>
          <p:cNvPr id="42" name="Text 40"/>
          <p:cNvSpPr txBox="1"/>
          <p:nvPr/>
        </p:nvSpPr>
        <p:spPr>
          <a:xfrm>
            <a:off x="6693408" y="5148072"/>
            <a:ext cx="1691640" cy="457200"/>
          </a:xfrm>
          <a:prstGeom prst="rect">
            <a:avLst/>
          </a:prstGeom>
          <a:noFill/>
          <a:ln/>
        </p:spPr>
        <p:txBody>
          <a:bodyPr wrap="square" lIns="0" tIns="0" rIns="0" bIns="0" rtlCol="0" anchor="ctr"/>
          <a:lstStyle/>
          <a:p>
            <a:pPr indent="0" marL="0">
              <a:buNone/>
            </a:pPr>
            <a:r>
              <a:rPr lang="en-US" sz="1800" b="1" dirty="0">
                <a:solidFill>
                  <a:srgbClr val="236CFF"/>
                </a:solidFill>
                <a:latin typeface="Arial" pitchFamily="34" charset="0"/>
                <a:ea typeface="Arial" pitchFamily="34" charset="-122"/>
                <a:cs typeface="Arial" pitchFamily="34" charset="-120"/>
              </a:rPr>
              <a:t>43,000+</a:t>
            </a:r>
            <a:endParaRPr lang="en-US" sz="1800" dirty="0"/>
          </a:p>
        </p:txBody>
      </p:sp>
      <p:sp>
        <p:nvSpPr>
          <p:cNvPr id="43" name="Text 41"/>
          <p:cNvSpPr txBox="1"/>
          <p:nvPr/>
        </p:nvSpPr>
        <p:spPr>
          <a:xfrm>
            <a:off x="8458200" y="5129784"/>
            <a:ext cx="2999232" cy="54864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NetSuite customers. NetSuite launched an AI app marketplace in 2025 to capture them.</a:t>
            </a:r>
            <a:endParaRPr lang="en-US" sz="1150" dirty="0"/>
          </a:p>
        </p:txBody>
      </p:sp>
      <p:sp>
        <p:nvSpPr>
          <p:cNvPr id="44" name="Text 42"/>
          <p:cNvSpPr txBox="1"/>
          <p:nvPr/>
        </p:nvSpPr>
        <p:spPr>
          <a:xfrm>
            <a:off x="8458200" y="5678424"/>
            <a:ext cx="2999232" cy="228600"/>
          </a:xfrm>
          <a:prstGeom prst="rect">
            <a:avLst/>
          </a:prstGeom>
          <a:noFill/>
          <a:ln/>
        </p:spPr>
        <p:txBody>
          <a:bodyPr wrap="square" lIns="0" tIns="0" rIns="0" bIns="0" rtlCol="0" anchor="t"/>
          <a:lstStyle/>
          <a:p>
            <a:pPr indent="0" marL="0">
              <a:buNone/>
            </a:pPr>
            <a:r>
              <a:rPr lang="en-US" sz="900" dirty="0">
                <a:solidFill>
                  <a:srgbClr val="8A91A3"/>
                </a:solidFill>
                <a:latin typeface="Arial" pitchFamily="34" charset="0"/>
                <a:ea typeface="Arial" pitchFamily="34" charset="-122"/>
                <a:cs typeface="Arial" pitchFamily="34" charset="-120"/>
              </a:rPr>
              <a:t>Oracle NetSuite, SuiteWorld 2025</a:t>
            </a:r>
            <a:endParaRPr lang="en-US" sz="900" dirty="0"/>
          </a:p>
        </p:txBody>
      </p:sp>
      <p:sp>
        <p:nvSpPr>
          <p:cNvPr id="45" name="Text 43"/>
          <p:cNvSpPr txBox="1"/>
          <p:nvPr/>
        </p:nvSpPr>
        <p:spPr>
          <a:xfrm>
            <a:off x="6492240" y="6053328"/>
            <a:ext cx="2743200" cy="228600"/>
          </a:xfrm>
          <a:prstGeom prst="rect">
            <a:avLst/>
          </a:prstGeom>
          <a:noFill/>
          <a:ln/>
        </p:spPr>
        <p:txBody>
          <a:bodyPr wrap="square" lIns="0" tIns="0" rIns="0" bIns="0" rtlCol="0" anchor="ctr"/>
          <a:lstStyle/>
          <a:p>
            <a:pPr indent="0" marL="0">
              <a:buNone/>
            </a:pPr>
            <a:r>
              <a:rPr lang="en-US" sz="1000" b="1" u="sng" dirty="0">
                <a:solidFill>
                  <a:srgbClr val="236C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All sources and links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Two customers who need each other</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Built on the two personas in Intuit's brief. An Intuit expert connects them.</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3</a:t>
            </a:r>
            <a:endParaRPr lang="en-US" sz="900" dirty="0"/>
          </a:p>
        </p:txBody>
      </p:sp>
      <p:sp>
        <p:nvSpPr>
          <p:cNvPr id="6" name="Shape 4"/>
          <p:cNvSpPr/>
          <p:nvPr/>
        </p:nvSpPr>
        <p:spPr>
          <a:xfrm>
            <a:off x="548640" y="1508760"/>
            <a:ext cx="5394960" cy="4160520"/>
          </a:xfrm>
          <a:prstGeom prst="roundRect">
            <a:avLst>
              <a:gd name="adj" fmla="val 1758"/>
            </a:avLst>
          </a:prstGeom>
          <a:solidFill>
            <a:srgbClr val="FFFFFF"/>
          </a:solidFill>
          <a:ln w="9525">
            <a:solidFill>
              <a:srgbClr val="DCE1EB"/>
            </a:solidFill>
            <a:prstDash val="solid"/>
          </a:ln>
        </p:spPr>
      </p:sp>
      <p:sp>
        <p:nvSpPr>
          <p:cNvPr id="7" name="Shape 5"/>
          <p:cNvSpPr/>
          <p:nvPr/>
        </p:nvSpPr>
        <p:spPr>
          <a:xfrm>
            <a:off x="777240" y="1691640"/>
            <a:ext cx="548640" cy="548640"/>
          </a:xfrm>
          <a:prstGeom prst="ellipse">
            <a:avLst/>
          </a:prstGeom>
          <a:solidFill>
            <a:srgbClr val="5B3FD6"/>
          </a:solidFill>
          <a:ln w="12700">
            <a:solidFill>
              <a:srgbClr val="5B3FD6"/>
            </a:solidFill>
            <a:prstDash val="solid"/>
          </a:ln>
        </p:spPr>
      </p:sp>
      <p:sp>
        <p:nvSpPr>
          <p:cNvPr id="8" name="Text 6"/>
          <p:cNvSpPr txBox="1"/>
          <p:nvPr/>
        </p:nvSpPr>
        <p:spPr>
          <a:xfrm>
            <a:off x="777240" y="16916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MC</a:t>
            </a:r>
            <a:endParaRPr lang="en-US" sz="1400" dirty="0"/>
          </a:p>
        </p:txBody>
      </p:sp>
      <p:sp>
        <p:nvSpPr>
          <p:cNvPr id="9" name="Text 7"/>
          <p:cNvSpPr txBox="1"/>
          <p:nvPr/>
        </p:nvSpPr>
        <p:spPr>
          <a:xfrm>
            <a:off x="1463040" y="1691640"/>
            <a:ext cx="4297680" cy="274320"/>
          </a:xfrm>
          <a:prstGeom prst="rect">
            <a:avLst/>
          </a:prstGeom>
          <a:noFill/>
          <a:ln/>
        </p:spPr>
        <p:txBody>
          <a:bodyPr wrap="square" lIns="0" tIns="0" rIns="0" bIns="0" rtlCol="0" anchor="t"/>
          <a:lstStyle/>
          <a:p>
            <a:pPr indent="0" marL="0">
              <a:buNone/>
            </a:pPr>
            <a:r>
              <a:rPr lang="en-US" sz="1500" b="1" dirty="0">
                <a:solidFill>
                  <a:srgbClr val="0D1B3E"/>
                </a:solidFill>
                <a:latin typeface="Arial" pitchFamily="34" charset="0"/>
                <a:ea typeface="Arial" pitchFamily="34" charset="-122"/>
                <a:cs typeface="Arial" pitchFamily="34" charset="-120"/>
              </a:rPr>
              <a:t>Maya Chen, CFO</a:t>
            </a:r>
            <a:endParaRPr lang="en-US" sz="1500" dirty="0"/>
          </a:p>
        </p:txBody>
      </p:sp>
      <p:sp>
        <p:nvSpPr>
          <p:cNvPr id="10" name="Text 8"/>
          <p:cNvSpPr txBox="1"/>
          <p:nvPr/>
        </p:nvSpPr>
        <p:spPr>
          <a:xfrm>
            <a:off x="1463040" y="1984248"/>
            <a:ext cx="4297680" cy="54864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Harbor &amp; Pine Outdoor. $64M revenue, 380 staff, US and Canada, UK entity opening next quarter. On IES for 3 years.</a:t>
            </a:r>
            <a:endParaRPr lang="en-US" sz="1050" dirty="0"/>
          </a:p>
        </p:txBody>
      </p:sp>
      <p:sp>
        <p:nvSpPr>
          <p:cNvPr id="11" name="Text 9"/>
          <p:cNvSpPr txBox="1"/>
          <p:nvPr/>
        </p:nvSpPr>
        <p:spPr>
          <a:xfrm>
            <a:off x="777240" y="269748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TRYING TO</a:t>
            </a:r>
            <a:endParaRPr lang="en-US" sz="950" dirty="0"/>
          </a:p>
        </p:txBody>
      </p:sp>
      <p:sp>
        <p:nvSpPr>
          <p:cNvPr id="12" name="Text 10"/>
          <p:cNvSpPr txBox="1"/>
          <p:nvPr/>
        </p:nvSpPr>
        <p:spPr>
          <a:xfrm>
            <a:off x="1965960" y="2679192"/>
            <a:ext cx="3749040" cy="68580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Close in 4 days, open the UK entity, pass the audit with no surprises.</a:t>
            </a:r>
            <a:endParaRPr lang="en-US" sz="1150" dirty="0"/>
          </a:p>
        </p:txBody>
      </p:sp>
      <p:sp>
        <p:nvSpPr>
          <p:cNvPr id="13" name="Text 11"/>
          <p:cNvSpPr txBox="1"/>
          <p:nvPr/>
        </p:nvSpPr>
        <p:spPr>
          <a:xfrm>
            <a:off x="777240" y="342900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BLOCKED BY</a:t>
            </a:r>
            <a:endParaRPr lang="en-US" sz="950" dirty="0"/>
          </a:p>
        </p:txBody>
      </p:sp>
      <p:sp>
        <p:nvSpPr>
          <p:cNvPr id="14" name="Text 12"/>
          <p:cNvSpPr txBox="1"/>
          <p:nvPr/>
        </p:nvSpPr>
        <p:spPr>
          <a:xfrm>
            <a:off x="1965960" y="3410712"/>
            <a:ext cx="3749040" cy="68580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Subscription revenue tracked in a spreadsheet. Nobody on staff knows UK VAT. Does not trust AI to post entries unchecked.</a:t>
            </a:r>
            <a:endParaRPr lang="en-US" sz="1150" dirty="0"/>
          </a:p>
        </p:txBody>
      </p:sp>
      <p:sp>
        <p:nvSpPr>
          <p:cNvPr id="15" name="Text 13"/>
          <p:cNvSpPr txBox="1"/>
          <p:nvPr/>
        </p:nvSpPr>
        <p:spPr>
          <a:xfrm>
            <a:off x="777240" y="416052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FEELS</a:t>
            </a:r>
            <a:endParaRPr lang="en-US" sz="950" dirty="0"/>
          </a:p>
        </p:txBody>
      </p:sp>
      <p:sp>
        <p:nvSpPr>
          <p:cNvPr id="16" name="Text 14"/>
          <p:cNvSpPr txBox="1"/>
          <p:nvPr/>
        </p:nvSpPr>
        <p:spPr>
          <a:xfrm>
            <a:off x="1965960" y="4142232"/>
            <a:ext cx="3749040" cy="685800"/>
          </a:xfrm>
          <a:prstGeom prst="rect">
            <a:avLst/>
          </a:prstGeom>
          <a:noFill/>
          <a:ln/>
        </p:spPr>
        <p:txBody>
          <a:bodyPr wrap="square" lIns="0" tIns="0" rIns="0" bIns="0" rtlCol="0" anchor="t"/>
          <a:lstStyle/>
          <a:p>
            <a:pPr indent="0" marL="0">
              <a:buNone/>
            </a:pPr>
            <a:r>
              <a:rPr lang="en-US" sz="1150" i="1" dirty="0">
                <a:solidFill>
                  <a:srgbClr val="0D1B3E"/>
                </a:solidFill>
                <a:latin typeface="Arial" pitchFamily="34" charset="0"/>
                <a:ea typeface="Arial" pitchFamily="34" charset="-122"/>
                <a:cs typeface="Arial" pitchFamily="34" charset="-120"/>
              </a:rPr>
              <a:t>"I am one audit note away from a nine-month ERP project."</a:t>
            </a:r>
            <a:endParaRPr lang="en-US" sz="1150" dirty="0"/>
          </a:p>
        </p:txBody>
      </p:sp>
      <p:sp>
        <p:nvSpPr>
          <p:cNvPr id="17" name="Text 15"/>
          <p:cNvSpPr txBox="1"/>
          <p:nvPr/>
        </p:nvSpPr>
        <p:spPr>
          <a:xfrm>
            <a:off x="777240" y="489204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IDEAL STATE</a:t>
            </a:r>
            <a:endParaRPr lang="en-US" sz="950" dirty="0"/>
          </a:p>
        </p:txBody>
      </p:sp>
      <p:sp>
        <p:nvSpPr>
          <p:cNvPr id="18" name="Text 16"/>
          <p:cNvSpPr txBox="1"/>
          <p:nvPr/>
        </p:nvSpPr>
        <p:spPr>
          <a:xfrm>
            <a:off x="1965960" y="4873752"/>
            <a:ext cx="3749040" cy="685800"/>
          </a:xfrm>
          <a:prstGeom prst="rect">
            <a:avLst/>
          </a:prstGeom>
          <a:noFill/>
          <a:ln/>
        </p:spPr>
        <p:txBody>
          <a:bodyPr wrap="square" lIns="0" tIns="0" rIns="0" bIns="0" rtlCol="0" anchor="t"/>
          <a:lstStyle/>
          <a:p>
            <a:pPr indent="0" marL="0">
              <a:buNone/>
            </a:pPr>
            <a:r>
              <a:rPr lang="en-US" sz="1150" i="1" dirty="0">
                <a:solidFill>
                  <a:srgbClr val="0D1B3E"/>
                </a:solidFill>
                <a:latin typeface="Arial" pitchFamily="34" charset="0"/>
                <a:ea typeface="Arial" pitchFamily="34" charset="-122"/>
                <a:cs typeface="Arial" pitchFamily="34" charset="-120"/>
              </a:rPr>
              <a:t>"Tell me what is coming, fix it inside the tool I know, and let me check the work."</a:t>
            </a:r>
            <a:endParaRPr lang="en-US" sz="1150" dirty="0"/>
          </a:p>
        </p:txBody>
      </p:sp>
      <p:sp>
        <p:nvSpPr>
          <p:cNvPr id="19" name="Shape 17"/>
          <p:cNvSpPr/>
          <p:nvPr/>
        </p:nvSpPr>
        <p:spPr>
          <a:xfrm>
            <a:off x="6245352" y="1508760"/>
            <a:ext cx="5394960" cy="4160520"/>
          </a:xfrm>
          <a:prstGeom prst="roundRect">
            <a:avLst>
              <a:gd name="adj" fmla="val 1758"/>
            </a:avLst>
          </a:prstGeom>
          <a:solidFill>
            <a:srgbClr val="FFFFFF"/>
          </a:solidFill>
          <a:ln w="9525">
            <a:solidFill>
              <a:srgbClr val="DCE1EB"/>
            </a:solidFill>
            <a:prstDash val="solid"/>
          </a:ln>
        </p:spPr>
      </p:sp>
      <p:sp>
        <p:nvSpPr>
          <p:cNvPr id="20" name="Shape 18"/>
          <p:cNvSpPr/>
          <p:nvPr/>
        </p:nvSpPr>
        <p:spPr>
          <a:xfrm>
            <a:off x="6473952" y="1691640"/>
            <a:ext cx="548640" cy="548640"/>
          </a:xfrm>
          <a:prstGeom prst="ellipse">
            <a:avLst/>
          </a:prstGeom>
          <a:solidFill>
            <a:srgbClr val="B25E00"/>
          </a:solidFill>
          <a:ln w="12700">
            <a:solidFill>
              <a:srgbClr val="B25E00"/>
            </a:solidFill>
            <a:prstDash val="solid"/>
          </a:ln>
        </p:spPr>
      </p:sp>
      <p:sp>
        <p:nvSpPr>
          <p:cNvPr id="21" name="Text 19"/>
          <p:cNvSpPr txBox="1"/>
          <p:nvPr/>
        </p:nvSpPr>
        <p:spPr>
          <a:xfrm>
            <a:off x="6473952" y="1691640"/>
            <a:ext cx="548640" cy="54864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AM</a:t>
            </a:r>
            <a:endParaRPr lang="en-US" sz="1400" dirty="0"/>
          </a:p>
        </p:txBody>
      </p:sp>
      <p:sp>
        <p:nvSpPr>
          <p:cNvPr id="22" name="Text 20"/>
          <p:cNvSpPr txBox="1"/>
          <p:nvPr/>
        </p:nvSpPr>
        <p:spPr>
          <a:xfrm>
            <a:off x="7159752" y="1691640"/>
            <a:ext cx="4297680" cy="274320"/>
          </a:xfrm>
          <a:prstGeom prst="rect">
            <a:avLst/>
          </a:prstGeom>
          <a:noFill/>
          <a:ln/>
        </p:spPr>
        <p:txBody>
          <a:bodyPr wrap="square" lIns="0" tIns="0" rIns="0" bIns="0" rtlCol="0" anchor="t"/>
          <a:lstStyle/>
          <a:p>
            <a:pPr indent="0" marL="0">
              <a:buNone/>
            </a:pPr>
            <a:r>
              <a:rPr lang="en-US" sz="1500" b="1" dirty="0">
                <a:solidFill>
                  <a:srgbClr val="0D1B3E"/>
                </a:solidFill>
                <a:latin typeface="Arial" pitchFamily="34" charset="0"/>
                <a:ea typeface="Arial" pitchFamily="34" charset="-122"/>
                <a:cs typeface="Arial" pitchFamily="34" charset="-120"/>
              </a:rPr>
              <a:t>Arjun Mehta, founder</a:t>
            </a:r>
            <a:endParaRPr lang="en-US" sz="1500" dirty="0"/>
          </a:p>
        </p:txBody>
      </p:sp>
      <p:sp>
        <p:nvSpPr>
          <p:cNvPr id="23" name="Text 21"/>
          <p:cNvSpPr txBox="1"/>
          <p:nvPr/>
        </p:nvSpPr>
        <p:spPr>
          <a:xfrm>
            <a:off x="7159752" y="1984248"/>
            <a:ext cx="4297680" cy="548640"/>
          </a:xfrm>
          <a:prstGeom prst="rect">
            <a:avLst/>
          </a:prstGeom>
          <a:noFill/>
          <a:ln/>
        </p:spPr>
        <p:txBody>
          <a:bodyPr wrap="square" lIns="0" tIns="0" rIns="0" bIns="0" rtlCol="0" anchor="t"/>
          <a:lstStyle/>
          <a:p>
            <a:pPr indent="0" marL="0">
              <a:buNone/>
            </a:pPr>
            <a:r>
              <a:rPr lang="en-US" sz="1050" dirty="0">
                <a:solidFill>
                  <a:srgbClr val="5A6275"/>
                </a:solidFill>
                <a:latin typeface="Arial" pitchFamily="34" charset="0"/>
                <a:ea typeface="Arial" pitchFamily="34" charset="-122"/>
                <a:cs typeface="Arial" pitchFamily="34" charset="-120"/>
              </a:rPr>
              <a:t>Ledgerline, a 12-person ISV that builds revenue recognition software for mid-market finance teams.</a:t>
            </a:r>
            <a:endParaRPr lang="en-US" sz="1050" dirty="0"/>
          </a:p>
        </p:txBody>
      </p:sp>
      <p:sp>
        <p:nvSpPr>
          <p:cNvPr id="24" name="Text 22"/>
          <p:cNvSpPr txBox="1"/>
          <p:nvPr/>
        </p:nvSpPr>
        <p:spPr>
          <a:xfrm>
            <a:off x="6473952" y="269748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TRYING TO</a:t>
            </a:r>
            <a:endParaRPr lang="en-US" sz="950" dirty="0"/>
          </a:p>
        </p:txBody>
      </p:sp>
      <p:sp>
        <p:nvSpPr>
          <p:cNvPr id="25" name="Text 23"/>
          <p:cNvSpPr txBox="1"/>
          <p:nvPr/>
        </p:nvSpPr>
        <p:spPr>
          <a:xfrm>
            <a:off x="7662672" y="2679192"/>
            <a:ext cx="3749040" cy="68580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Find mid-market customers who will pay for a revenue agent.</a:t>
            </a:r>
            <a:endParaRPr lang="en-US" sz="1150" dirty="0"/>
          </a:p>
        </p:txBody>
      </p:sp>
      <p:sp>
        <p:nvSpPr>
          <p:cNvPr id="26" name="Text 24"/>
          <p:cNvSpPr txBox="1"/>
          <p:nvPr/>
        </p:nvSpPr>
        <p:spPr>
          <a:xfrm>
            <a:off x="6473952" y="342900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BLOCKED BY</a:t>
            </a:r>
            <a:endParaRPr lang="en-US" sz="950" dirty="0"/>
          </a:p>
        </p:txBody>
      </p:sp>
      <p:sp>
        <p:nvSpPr>
          <p:cNvPr id="27" name="Text 25"/>
          <p:cNvSpPr txBox="1"/>
          <p:nvPr/>
        </p:nvSpPr>
        <p:spPr>
          <a:xfrm>
            <a:off x="7662672" y="3410712"/>
            <a:ext cx="3749040" cy="685800"/>
          </a:xfrm>
          <a:prstGeom prst="rect">
            <a:avLst/>
          </a:prstGeom>
          <a:noFill/>
          <a:ln/>
        </p:spPr>
        <p:txBody>
          <a:bodyPr wrap="square" lIns="0" tIns="0" rIns="0" bIns="0" rtlCol="0" anchor="t"/>
          <a:lstStyle/>
          <a:p>
            <a:pPr indent="0" marL="0">
              <a:buNone/>
            </a:pPr>
            <a:r>
              <a:rPr lang="en-US" sz="1150" dirty="0">
                <a:solidFill>
                  <a:srgbClr val="1F2433"/>
                </a:solidFill>
                <a:latin typeface="Arial" pitchFamily="34" charset="0"/>
                <a:ea typeface="Arial" pitchFamily="34" charset="-122"/>
                <a:cs typeface="Arial" pitchFamily="34" charset="-120"/>
              </a:rPr>
              <a:t>Report-style APIs, no view of who needs his product, a new security review for every customer, unclear pricing.</a:t>
            </a:r>
            <a:endParaRPr lang="en-US" sz="1150" dirty="0"/>
          </a:p>
        </p:txBody>
      </p:sp>
      <p:sp>
        <p:nvSpPr>
          <p:cNvPr id="28" name="Text 26"/>
          <p:cNvSpPr txBox="1"/>
          <p:nvPr/>
        </p:nvSpPr>
        <p:spPr>
          <a:xfrm>
            <a:off x="6473952" y="416052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FEELS</a:t>
            </a:r>
            <a:endParaRPr lang="en-US" sz="950" dirty="0"/>
          </a:p>
        </p:txBody>
      </p:sp>
      <p:sp>
        <p:nvSpPr>
          <p:cNvPr id="29" name="Text 27"/>
          <p:cNvSpPr txBox="1"/>
          <p:nvPr/>
        </p:nvSpPr>
        <p:spPr>
          <a:xfrm>
            <a:off x="7662672" y="4142232"/>
            <a:ext cx="3749040" cy="685800"/>
          </a:xfrm>
          <a:prstGeom prst="rect">
            <a:avLst/>
          </a:prstGeom>
          <a:noFill/>
          <a:ln/>
        </p:spPr>
        <p:txBody>
          <a:bodyPr wrap="square" lIns="0" tIns="0" rIns="0" bIns="0" rtlCol="0" anchor="t"/>
          <a:lstStyle/>
          <a:p>
            <a:pPr indent="0" marL="0">
              <a:buNone/>
            </a:pPr>
            <a:r>
              <a:rPr lang="en-US" sz="1150" i="1" dirty="0">
                <a:solidFill>
                  <a:srgbClr val="0D1B3E"/>
                </a:solidFill>
                <a:latin typeface="Arial" pitchFamily="34" charset="0"/>
                <a:ea typeface="Arial" pitchFamily="34" charset="-122"/>
                <a:cs typeface="Arial" pitchFamily="34" charset="-120"/>
              </a:rPr>
              <a:t>"We build good features that nobody finds."</a:t>
            </a:r>
            <a:endParaRPr lang="en-US" sz="1150" dirty="0"/>
          </a:p>
        </p:txBody>
      </p:sp>
      <p:sp>
        <p:nvSpPr>
          <p:cNvPr id="30" name="Text 28"/>
          <p:cNvSpPr txBox="1"/>
          <p:nvPr/>
        </p:nvSpPr>
        <p:spPr>
          <a:xfrm>
            <a:off x="6473952" y="4892040"/>
            <a:ext cx="118872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IDEAL STATE</a:t>
            </a:r>
            <a:endParaRPr lang="en-US" sz="950" dirty="0"/>
          </a:p>
        </p:txBody>
      </p:sp>
      <p:sp>
        <p:nvSpPr>
          <p:cNvPr id="31" name="Text 29"/>
          <p:cNvSpPr txBox="1"/>
          <p:nvPr/>
        </p:nvSpPr>
        <p:spPr>
          <a:xfrm>
            <a:off x="7662672" y="4873752"/>
            <a:ext cx="3749040" cy="685800"/>
          </a:xfrm>
          <a:prstGeom prst="rect">
            <a:avLst/>
          </a:prstGeom>
          <a:noFill/>
          <a:ln/>
        </p:spPr>
        <p:txBody>
          <a:bodyPr wrap="square" lIns="0" tIns="0" rIns="0" bIns="0" rtlCol="0" anchor="t"/>
          <a:lstStyle/>
          <a:p>
            <a:pPr indent="0" marL="0">
              <a:buNone/>
            </a:pPr>
            <a:r>
              <a:rPr lang="en-US" sz="1150" i="1" dirty="0">
                <a:solidFill>
                  <a:srgbClr val="0D1B3E"/>
                </a:solidFill>
                <a:latin typeface="Arial" pitchFamily="34" charset="0"/>
                <a:ea typeface="Arial" pitchFamily="34" charset="-122"/>
                <a:cs typeface="Arial" pitchFamily="34" charset="-120"/>
              </a:rPr>
              <a:t>"Show me real demand, give me the tools Intuit's own agents use, and bill customers for me."</a:t>
            </a:r>
            <a:endParaRPr lang="en-US" sz="1150" dirty="0"/>
          </a:p>
        </p:txBody>
      </p:sp>
      <p:sp>
        <p:nvSpPr>
          <p:cNvPr id="32" name="Shape 30"/>
          <p:cNvSpPr/>
          <p:nvPr/>
        </p:nvSpPr>
        <p:spPr>
          <a:xfrm>
            <a:off x="548640" y="5806440"/>
            <a:ext cx="11094415" cy="502920"/>
          </a:xfrm>
          <a:prstGeom prst="roundRect">
            <a:avLst>
              <a:gd name="adj" fmla="val 14545"/>
            </a:avLst>
          </a:prstGeom>
          <a:solidFill>
            <a:srgbClr val="E6F4EC"/>
          </a:solidFill>
          <a:ln w="9525">
            <a:solidFill>
              <a:srgbClr val="E6F4EC"/>
            </a:solidFill>
            <a:prstDash val="solid"/>
          </a:ln>
        </p:spPr>
      </p:sp>
      <p:sp>
        <p:nvSpPr>
          <p:cNvPr id="33" name="Shape 31"/>
          <p:cNvSpPr/>
          <p:nvPr/>
        </p:nvSpPr>
        <p:spPr>
          <a:xfrm>
            <a:off x="713232" y="5907024"/>
            <a:ext cx="301752" cy="301752"/>
          </a:xfrm>
          <a:prstGeom prst="ellipse">
            <a:avLst/>
          </a:prstGeom>
          <a:solidFill>
            <a:srgbClr val="108043"/>
          </a:solidFill>
          <a:ln w="12700">
            <a:solidFill>
              <a:srgbClr val="108043"/>
            </a:solidFill>
            <a:prstDash val="solid"/>
          </a:ln>
        </p:spPr>
      </p:sp>
      <p:sp>
        <p:nvSpPr>
          <p:cNvPr id="34" name="Text 32"/>
          <p:cNvSpPr txBox="1"/>
          <p:nvPr/>
        </p:nvSpPr>
        <p:spPr>
          <a:xfrm>
            <a:off x="713232" y="5907024"/>
            <a:ext cx="301752" cy="301752"/>
          </a:xfrm>
          <a:prstGeom prst="rect">
            <a:avLst/>
          </a:prstGeom>
          <a:noFill/>
          <a:ln/>
        </p:spPr>
        <p:txBody>
          <a:bodyPr wrap="square" lIns="0" tIns="0" rIns="0" bIns="0" rtlCol="0" anchor="ctr"/>
          <a:lstStyle/>
          <a:p>
            <a:pPr algn="ctr" indent="0" marL="0">
              <a:buNone/>
            </a:pPr>
            <a:r>
              <a:rPr lang="en-US" sz="900" b="1" dirty="0">
                <a:solidFill>
                  <a:srgbClr val="FFFFFF"/>
                </a:solidFill>
                <a:latin typeface="Arial" pitchFamily="34" charset="0"/>
                <a:ea typeface="Arial" pitchFamily="34" charset="-122"/>
                <a:cs typeface="Arial" pitchFamily="34" charset="-120"/>
              </a:rPr>
              <a:t>DO</a:t>
            </a:r>
            <a:endParaRPr lang="en-US" sz="900" dirty="0"/>
          </a:p>
        </p:txBody>
      </p:sp>
      <p:sp>
        <p:nvSpPr>
          <p:cNvPr id="35" name="Text 33"/>
          <p:cNvSpPr txBox="1"/>
          <p:nvPr/>
        </p:nvSpPr>
        <p:spPr>
          <a:xfrm>
            <a:off x="1143000" y="5907024"/>
            <a:ext cx="10362895" cy="320040"/>
          </a:xfrm>
          <a:prstGeom prst="rect">
            <a:avLst/>
          </a:prstGeom>
          <a:noFill/>
          <a:ln/>
        </p:spPr>
        <p:txBody>
          <a:bodyPr wrap="square" lIns="0" tIns="0" rIns="0" bIns="0" rtlCol="0" anchor="ctr"/>
          <a:lstStyle/>
          <a:p>
            <a:pPr indent="0" marL="0">
              <a:buNone/>
            </a:pPr>
            <a:r>
              <a:rPr lang="en-US" sz="1150" b="1" dirty="0">
                <a:solidFill>
                  <a:srgbClr val="108043"/>
                </a:solidFill>
                <a:latin typeface="Arial" pitchFamily="34" charset="0"/>
                <a:ea typeface="Arial" pitchFamily="34" charset="-122"/>
                <a:cs typeface="Arial" pitchFamily="34" charset="-120"/>
              </a:rPr>
              <a:t>Dana Ortiz, CPA, Intuit expert. </a:t>
            </a:r>
            <a:pPr indent="0" marL="0">
              <a:buNone/>
            </a:pPr>
            <a:r>
              <a:rPr lang="en-US" sz="1150" dirty="0">
                <a:solidFill>
                  <a:srgbClr val="1F2433"/>
                </a:solidFill>
                <a:latin typeface="Arial" pitchFamily="34" charset="0"/>
                <a:ea typeface="Arial" pitchFamily="34" charset="-122"/>
                <a:cs typeface="Arial" pitchFamily="34" charset="-120"/>
              </a:rPr>
              <a:t>Wants steady, well-paid review work. Her judgement is what lets Maya trust Arjun's agent.</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Eight ideas, narrowed to two</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I spread 100 points across the ideas, checked them with RICE, and plotted them by impact and effort.</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4</a:t>
            </a:r>
            <a:endParaRPr lang="en-US" sz="9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6858000" cy="914400"/>
        </p:xfrm>
        <a:graphic>
          <a:graphicData uri="http://schemas.openxmlformats.org/drawingml/2006/table">
            <a:tbl>
              <a:tblPr/>
              <a:tblGrid>
                <a:gridCol w="3017520"/>
                <a:gridCol w="640080"/>
                <a:gridCol w="685800"/>
                <a:gridCol w="594360"/>
                <a:gridCol w="594360"/>
                <a:gridCol w="594360"/>
                <a:gridCol w="731520"/>
              </a:tblGrid>
              <a:tr h="310896">
                <a:tc>
                  <a:txBody>
                    <a:bodyPr/>
                    <a:lstStyle/>
                    <a:p>
                      <a:pPr indent="0" marL="0">
                        <a:buNone/>
                      </a:pPr>
                      <a:r>
                        <a:rPr lang="en-US" sz="900" b="1" dirty="0">
                          <a:solidFill>
                            <a:srgbClr val="5A6275"/>
                          </a:solidFill>
                          <a:latin typeface="Arial" pitchFamily="34" charset="0"/>
                          <a:ea typeface="Arial" pitchFamily="34" charset="-122"/>
                          <a:cs typeface="Arial" pitchFamily="34" charset="-120"/>
                        </a:rPr>
                        <a:t>Idea</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100 pts</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Reach</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Impact</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Conf.</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Effort</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RICE</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329184">
                <a:tc>
                  <a:txBody>
                    <a:bodyPr/>
                    <a:lstStyle/>
                    <a:p>
                      <a:pPr indent="0" marL="0">
                        <a:buNone/>
                      </a:pPr>
                      <a:r>
                        <a:rPr lang="en-US" sz="1050" b="1" dirty="0">
                          <a:solidFill>
                            <a:srgbClr val="236CFF"/>
                          </a:solidFill>
                          <a:latin typeface="Arial" pitchFamily="34" charset="0"/>
                          <a:ea typeface="Arial" pitchFamily="34" charset="-122"/>
                          <a:cs typeface="Arial" pitchFamily="34" charset="-120"/>
                        </a:rPr>
                        <a:t>A. Growth Radar: warn before they outgrow</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30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6,000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70%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8</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1,575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b="1" dirty="0">
                          <a:solidFill>
                            <a:srgbClr val="236CFF"/>
                          </a:solidFill>
                          <a:latin typeface="Arial" pitchFamily="34" charset="0"/>
                          <a:ea typeface="Arial" pitchFamily="34" charset="-122"/>
                          <a:cs typeface="Arial" pitchFamily="34" charset="-120"/>
                        </a:rPr>
                        <a:t>B. Verified agent and app store</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4,000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60%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480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C. Intuit expert review of agent work</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3,000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80%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960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D. Developer demand board and studio</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2,500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9</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278</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E. NetSuite migration concierge</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400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3</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4</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150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F. More industry editions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1,500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60%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75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G. Usage-based API pricing</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800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0.5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80%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160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29184">
                <a:tc>
                  <a:txBody>
                    <a:bodyPr/>
                    <a:lstStyle/>
                    <a:p>
                      <a:pPr indent="0" marL="0">
                        <a:buNone/>
                      </a:pPr>
                      <a:r>
                        <a:rPr lang="en-US" sz="1050" dirty="0">
                          <a:solidFill>
                            <a:srgbClr val="1F2433"/>
                          </a:solidFill>
                          <a:latin typeface="Arial" pitchFamily="34" charset="0"/>
                          <a:ea typeface="Arial" pitchFamily="34" charset="-122"/>
                          <a:cs typeface="Arial" pitchFamily="34" charset="-120"/>
                        </a:rPr>
                        <a:t>H. AI CFO chat</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Shipped</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
        <p:nvSpPr>
          <p:cNvPr id="7" name="Text 4"/>
          <p:cNvSpPr txBox="1"/>
          <p:nvPr/>
        </p:nvSpPr>
        <p:spPr>
          <a:xfrm>
            <a:off x="548640" y="4617720"/>
            <a:ext cx="6858000" cy="548640"/>
          </a:xfrm>
          <a:prstGeom prst="rect">
            <a:avLst/>
          </a:prstGeom>
          <a:noFill/>
          <a:ln/>
        </p:spPr>
        <p:txBody>
          <a:bodyPr wrap="square" lIns="0" tIns="0" rIns="0" bIns="0" rtlCol="0" anchor="t"/>
          <a:lstStyle/>
          <a:p>
            <a:pPr indent="0" marL="0">
              <a:buNone/>
            </a:pPr>
            <a:r>
              <a:rPr lang="en-US" sz="950" dirty="0">
                <a:solidFill>
                  <a:srgbClr val="8A91A3"/>
                </a:solidFill>
                <a:latin typeface="Arial" pitchFamily="34" charset="0"/>
                <a:ea typeface="Arial" pitchFamily="34" charset="-122"/>
                <a:cs typeface="Arial" pitchFamily="34" charset="-120"/>
              </a:rPr>
              <a:t>Reach = companies or developers affected per quarter. Impact 0.25 to 3. Effort in person-months. Reach assumes about 20,000 IES companies. H was dropped because Intuit launched Intelligence Chat in August 2026.</a:t>
            </a:r>
            <a:endParaRPr lang="en-US" sz="950" dirty="0"/>
          </a:p>
        </p:txBody>
      </p:sp>
      <p:sp>
        <p:nvSpPr>
          <p:cNvPr id="8" name="Shape 5"/>
          <p:cNvSpPr/>
          <p:nvPr/>
        </p:nvSpPr>
        <p:spPr>
          <a:xfrm>
            <a:off x="548640" y="5257800"/>
            <a:ext cx="6858000" cy="1051560"/>
          </a:xfrm>
          <a:prstGeom prst="roundRect">
            <a:avLst>
              <a:gd name="adj" fmla="val 6957"/>
            </a:avLst>
          </a:prstGeom>
          <a:solidFill>
            <a:srgbClr val="EEF3FF"/>
          </a:solidFill>
          <a:ln w="9525">
            <a:solidFill>
              <a:srgbClr val="EEF3FF"/>
            </a:solidFill>
            <a:prstDash val="solid"/>
          </a:ln>
        </p:spPr>
      </p:sp>
      <p:sp>
        <p:nvSpPr>
          <p:cNvPr id="9" name="Text 6"/>
          <p:cNvSpPr txBox="1"/>
          <p:nvPr/>
        </p:nvSpPr>
        <p:spPr>
          <a:xfrm>
            <a:off x="749808" y="5376672"/>
            <a:ext cx="365760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WHAT I PICKED</a:t>
            </a:r>
            <a:endParaRPr lang="en-US" sz="950" dirty="0"/>
          </a:p>
        </p:txBody>
      </p:sp>
      <p:sp>
        <p:nvSpPr>
          <p:cNvPr id="10" name="Text 7"/>
          <p:cNvSpPr txBox="1"/>
          <p:nvPr/>
        </p:nvSpPr>
        <p:spPr>
          <a:xfrm>
            <a:off x="749808" y="5614416"/>
            <a:ext cx="6446520" cy="640080"/>
          </a:xfrm>
          <a:prstGeom prst="rect">
            <a:avLst/>
          </a:prstGeom>
          <a:noFill/>
          <a:ln/>
        </p:spPr>
        <p:txBody>
          <a:bodyPr wrap="square" lIns="0" tIns="0" rIns="0" bIns="0" rtlCol="0" anchor="t"/>
          <a:lstStyle/>
          <a:p>
            <a:pPr indent="0" marL="0">
              <a:buNone/>
            </a:pPr>
            <a:r>
              <a:rPr lang="en-US" sz="1150" dirty="0">
                <a:solidFill>
                  <a:srgbClr val="0D1B3E"/>
                </a:solidFill>
                <a:latin typeface="Arial" pitchFamily="34" charset="0"/>
                <a:ea typeface="Arial" pitchFamily="34" charset="-122"/>
                <a:cs typeface="Arial" pitchFamily="34" charset="-120"/>
              </a:rPr>
              <a:t>Growth Radar (A) and the Verified Agent Store (B) are the product. Expert review (C) makes the agents safe to trust. The developer studio (D) fills the store with what Radar finds customers need.</a:t>
            </a:r>
            <a:endParaRPr lang="en-US" sz="1150" dirty="0"/>
          </a:p>
        </p:txBody>
      </p:sp>
      <p:sp>
        <p:nvSpPr>
          <p:cNvPr id="11" name="Text 8"/>
          <p:cNvSpPr txBox="1"/>
          <p:nvPr/>
        </p:nvSpPr>
        <p:spPr>
          <a:xfrm>
            <a:off x="7818120" y="1508760"/>
            <a:ext cx="3822192" cy="228600"/>
          </a:xfrm>
          <a:prstGeom prst="rect">
            <a:avLst/>
          </a:prstGeom>
          <a:noFill/>
          <a:ln/>
        </p:spPr>
        <p:txBody>
          <a:bodyPr wrap="square" lIns="0" tIns="0" rIns="0" bIns="0" rtlCol="0" anchor="t"/>
          <a:lstStyle/>
          <a:p>
            <a:pPr indent="0" marL="0">
              <a:buNone/>
            </a:pPr>
            <a:r>
              <a:rPr lang="en-US" sz="1100" b="1" dirty="0">
                <a:solidFill>
                  <a:srgbClr val="0D1B3E"/>
                </a:solidFill>
                <a:latin typeface="Arial" pitchFamily="34" charset="0"/>
                <a:ea typeface="Arial" pitchFamily="34" charset="-122"/>
                <a:cs typeface="Arial" pitchFamily="34" charset="-120"/>
              </a:rPr>
              <a:t>Impact vs effort</a:t>
            </a:r>
            <a:endParaRPr lang="en-US" sz="1100" dirty="0"/>
          </a:p>
        </p:txBody>
      </p:sp>
      <p:sp>
        <p:nvSpPr>
          <p:cNvPr id="12" name="Shape 9"/>
          <p:cNvSpPr/>
          <p:nvPr/>
        </p:nvSpPr>
        <p:spPr>
          <a:xfrm>
            <a:off x="8092440" y="1828800"/>
            <a:ext cx="1773936" cy="1773936"/>
          </a:xfrm>
          <a:prstGeom prst="rect">
            <a:avLst/>
          </a:prstGeom>
          <a:solidFill>
            <a:srgbClr val="E6F4EC"/>
          </a:solidFill>
          <a:ln w="25400">
            <a:solidFill>
              <a:srgbClr val="FFFFFF"/>
            </a:solidFill>
            <a:prstDash val="solid"/>
          </a:ln>
        </p:spPr>
      </p:sp>
      <p:sp>
        <p:nvSpPr>
          <p:cNvPr id="13" name="Text 10"/>
          <p:cNvSpPr txBox="1"/>
          <p:nvPr/>
        </p:nvSpPr>
        <p:spPr>
          <a:xfrm>
            <a:off x="8183880" y="1901952"/>
            <a:ext cx="1591056" cy="228600"/>
          </a:xfrm>
          <a:prstGeom prst="rect">
            <a:avLst/>
          </a:prstGeom>
          <a:noFill/>
          <a:ln/>
        </p:spPr>
        <p:txBody>
          <a:bodyPr wrap="square" lIns="0" tIns="0" rIns="0" bIns="0" rtlCol="0" anchor="t"/>
          <a:lstStyle/>
          <a:p>
            <a:pPr indent="0" marL="0">
              <a:buNone/>
            </a:pPr>
            <a:r>
              <a:rPr lang="en-US" sz="950" b="1" dirty="0">
                <a:solidFill>
                  <a:srgbClr val="5A6275"/>
                </a:solidFill>
                <a:latin typeface="Arial" pitchFamily="34" charset="0"/>
                <a:ea typeface="Arial" pitchFamily="34" charset="-122"/>
                <a:cs typeface="Arial" pitchFamily="34" charset="-120"/>
              </a:rPr>
              <a:t>Quick wins</a:t>
            </a:r>
            <a:endParaRPr lang="en-US" sz="950" dirty="0"/>
          </a:p>
        </p:txBody>
      </p:sp>
      <p:sp>
        <p:nvSpPr>
          <p:cNvPr id="14" name="Shape 11"/>
          <p:cNvSpPr/>
          <p:nvPr/>
        </p:nvSpPr>
        <p:spPr>
          <a:xfrm>
            <a:off x="9866376" y="1828800"/>
            <a:ext cx="1773936" cy="1773936"/>
          </a:xfrm>
          <a:prstGeom prst="rect">
            <a:avLst/>
          </a:prstGeom>
          <a:solidFill>
            <a:srgbClr val="EEF3FF"/>
          </a:solidFill>
          <a:ln w="25400">
            <a:solidFill>
              <a:srgbClr val="FFFFFF"/>
            </a:solidFill>
            <a:prstDash val="solid"/>
          </a:ln>
        </p:spPr>
      </p:sp>
      <p:sp>
        <p:nvSpPr>
          <p:cNvPr id="15" name="Text 12"/>
          <p:cNvSpPr txBox="1"/>
          <p:nvPr/>
        </p:nvSpPr>
        <p:spPr>
          <a:xfrm>
            <a:off x="9957816" y="1901952"/>
            <a:ext cx="1591056" cy="228600"/>
          </a:xfrm>
          <a:prstGeom prst="rect">
            <a:avLst/>
          </a:prstGeom>
          <a:noFill/>
          <a:ln/>
        </p:spPr>
        <p:txBody>
          <a:bodyPr wrap="square" lIns="0" tIns="0" rIns="0" bIns="0" rtlCol="0" anchor="t"/>
          <a:lstStyle/>
          <a:p>
            <a:pPr indent="0" marL="0">
              <a:buNone/>
            </a:pPr>
            <a:r>
              <a:rPr lang="en-US" sz="950" b="1" dirty="0">
                <a:solidFill>
                  <a:srgbClr val="5A6275"/>
                </a:solidFill>
                <a:latin typeface="Arial" pitchFamily="34" charset="0"/>
                <a:ea typeface="Arial" pitchFamily="34" charset="-122"/>
                <a:cs typeface="Arial" pitchFamily="34" charset="-120"/>
              </a:rPr>
              <a:t>Big bets</a:t>
            </a:r>
            <a:endParaRPr lang="en-US" sz="950" dirty="0"/>
          </a:p>
        </p:txBody>
      </p:sp>
      <p:sp>
        <p:nvSpPr>
          <p:cNvPr id="16" name="Shape 13"/>
          <p:cNvSpPr/>
          <p:nvPr/>
        </p:nvSpPr>
        <p:spPr>
          <a:xfrm>
            <a:off x="8092440" y="3602736"/>
            <a:ext cx="1773936" cy="1773936"/>
          </a:xfrm>
          <a:prstGeom prst="rect">
            <a:avLst/>
          </a:prstGeom>
          <a:solidFill>
            <a:srgbClr val="F5F7FB"/>
          </a:solidFill>
          <a:ln w="25400">
            <a:solidFill>
              <a:srgbClr val="FFFFFF"/>
            </a:solidFill>
            <a:prstDash val="solid"/>
          </a:ln>
        </p:spPr>
      </p:sp>
      <p:sp>
        <p:nvSpPr>
          <p:cNvPr id="17" name="Text 14"/>
          <p:cNvSpPr txBox="1"/>
          <p:nvPr/>
        </p:nvSpPr>
        <p:spPr>
          <a:xfrm>
            <a:off x="8183880" y="3675888"/>
            <a:ext cx="1591056" cy="228600"/>
          </a:xfrm>
          <a:prstGeom prst="rect">
            <a:avLst/>
          </a:prstGeom>
          <a:noFill/>
          <a:ln/>
        </p:spPr>
        <p:txBody>
          <a:bodyPr wrap="square" lIns="0" tIns="0" rIns="0" bIns="0" rtlCol="0" anchor="t"/>
          <a:lstStyle/>
          <a:p>
            <a:pPr indent="0" marL="0">
              <a:buNone/>
            </a:pPr>
            <a:r>
              <a:rPr lang="en-US" sz="950" b="1" dirty="0">
                <a:solidFill>
                  <a:srgbClr val="5A6275"/>
                </a:solidFill>
                <a:latin typeface="Arial" pitchFamily="34" charset="0"/>
                <a:ea typeface="Arial" pitchFamily="34" charset="-122"/>
                <a:cs typeface="Arial" pitchFamily="34" charset="-120"/>
              </a:rPr>
              <a:t>Fill-ins</a:t>
            </a:r>
            <a:endParaRPr lang="en-US" sz="950" dirty="0"/>
          </a:p>
        </p:txBody>
      </p:sp>
      <p:sp>
        <p:nvSpPr>
          <p:cNvPr id="18" name="Shape 15"/>
          <p:cNvSpPr/>
          <p:nvPr/>
        </p:nvSpPr>
        <p:spPr>
          <a:xfrm>
            <a:off x="9866376" y="3602736"/>
            <a:ext cx="1773936" cy="1773936"/>
          </a:xfrm>
          <a:prstGeom prst="rect">
            <a:avLst/>
          </a:prstGeom>
          <a:solidFill>
            <a:srgbClr val="FDECEC"/>
          </a:solidFill>
          <a:ln w="25400">
            <a:solidFill>
              <a:srgbClr val="FFFFFF"/>
            </a:solidFill>
            <a:prstDash val="solid"/>
          </a:ln>
        </p:spPr>
      </p:sp>
      <p:sp>
        <p:nvSpPr>
          <p:cNvPr id="19" name="Text 16"/>
          <p:cNvSpPr txBox="1"/>
          <p:nvPr/>
        </p:nvSpPr>
        <p:spPr>
          <a:xfrm>
            <a:off x="9957816" y="3675888"/>
            <a:ext cx="1591056" cy="228600"/>
          </a:xfrm>
          <a:prstGeom prst="rect">
            <a:avLst/>
          </a:prstGeom>
          <a:noFill/>
          <a:ln/>
        </p:spPr>
        <p:txBody>
          <a:bodyPr wrap="square" lIns="0" tIns="0" rIns="0" bIns="0" rtlCol="0" anchor="t"/>
          <a:lstStyle/>
          <a:p>
            <a:pPr indent="0" marL="0">
              <a:buNone/>
            </a:pPr>
            <a:r>
              <a:rPr lang="en-US" sz="950" b="1" dirty="0">
                <a:solidFill>
                  <a:srgbClr val="5A6275"/>
                </a:solidFill>
                <a:latin typeface="Arial" pitchFamily="34" charset="0"/>
                <a:ea typeface="Arial" pitchFamily="34" charset="-122"/>
                <a:cs typeface="Arial" pitchFamily="34" charset="-120"/>
              </a:rPr>
              <a:t>Skip</a:t>
            </a:r>
            <a:endParaRPr lang="en-US" sz="950" dirty="0"/>
          </a:p>
        </p:txBody>
      </p:sp>
      <p:sp>
        <p:nvSpPr>
          <p:cNvPr id="20" name="Text 17"/>
          <p:cNvSpPr txBox="1"/>
          <p:nvPr/>
        </p:nvSpPr>
        <p:spPr>
          <a:xfrm rot="16200000">
            <a:off x="7680960" y="3465576"/>
            <a:ext cx="365760" cy="274320"/>
          </a:xfrm>
          <a:prstGeom prst="rect">
            <a:avLst/>
          </a:prstGeom>
          <a:noFill/>
          <a:ln/>
        </p:spPr>
        <p:txBody>
          <a:bodyPr wrap="square" lIns="0" tIns="0" rIns="0" bIns="0" rtlCol="0" anchor="t"/>
          <a:lstStyle/>
          <a:p>
            <a:pPr algn="ctr" indent="0" marL="0">
              <a:buNone/>
            </a:pPr>
            <a:r>
              <a:rPr lang="en-US" sz="900" dirty="0">
                <a:solidFill>
                  <a:srgbClr val="5A6275"/>
                </a:solidFill>
                <a:latin typeface="Arial" pitchFamily="34" charset="0"/>
                <a:ea typeface="Arial" pitchFamily="34" charset="-122"/>
                <a:cs typeface="Arial" pitchFamily="34" charset="-120"/>
              </a:rPr>
              <a:t>Impact</a:t>
            </a:r>
            <a:endParaRPr lang="en-US" sz="900" dirty="0"/>
          </a:p>
        </p:txBody>
      </p:sp>
      <p:sp>
        <p:nvSpPr>
          <p:cNvPr id="21" name="Text 18"/>
          <p:cNvSpPr txBox="1"/>
          <p:nvPr/>
        </p:nvSpPr>
        <p:spPr>
          <a:xfrm>
            <a:off x="8092440" y="5422392"/>
            <a:ext cx="3547872" cy="228600"/>
          </a:xfrm>
          <a:prstGeom prst="rect">
            <a:avLst/>
          </a:prstGeom>
          <a:noFill/>
          <a:ln/>
        </p:spPr>
        <p:txBody>
          <a:bodyPr wrap="square" lIns="0" tIns="0" rIns="0" bIns="0" rtlCol="0" anchor="t"/>
          <a:lstStyle/>
          <a:p>
            <a:pPr algn="ctr" indent="0" marL="0">
              <a:buNone/>
            </a:pPr>
            <a:r>
              <a:rPr lang="en-US" sz="900" dirty="0">
                <a:solidFill>
                  <a:srgbClr val="5A6275"/>
                </a:solidFill>
                <a:latin typeface="Arial" pitchFamily="34" charset="0"/>
                <a:ea typeface="Arial" pitchFamily="34" charset="-122"/>
                <a:cs typeface="Arial" pitchFamily="34" charset="-120"/>
              </a:rPr>
              <a:t>Low effort                          High effort</a:t>
            </a:r>
            <a:endParaRPr lang="en-US" sz="900" dirty="0"/>
          </a:p>
        </p:txBody>
      </p:sp>
      <p:sp>
        <p:nvSpPr>
          <p:cNvPr id="22" name="Shape 19"/>
          <p:cNvSpPr/>
          <p:nvPr/>
        </p:nvSpPr>
        <p:spPr>
          <a:xfrm>
            <a:off x="9063167" y="2018995"/>
            <a:ext cx="329184" cy="329184"/>
          </a:xfrm>
          <a:prstGeom prst="ellipse">
            <a:avLst/>
          </a:prstGeom>
          <a:solidFill>
            <a:srgbClr val="236CFF"/>
          </a:solidFill>
          <a:ln w="12700">
            <a:solidFill>
              <a:srgbClr val="236CFF"/>
            </a:solidFill>
            <a:prstDash val="solid"/>
          </a:ln>
        </p:spPr>
      </p:sp>
      <p:sp>
        <p:nvSpPr>
          <p:cNvPr id="23" name="Text 20"/>
          <p:cNvSpPr txBox="1"/>
          <p:nvPr/>
        </p:nvSpPr>
        <p:spPr>
          <a:xfrm>
            <a:off x="9063167" y="2018995"/>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A</a:t>
            </a:r>
            <a:endParaRPr lang="en-US" sz="1100" dirty="0"/>
          </a:p>
        </p:txBody>
      </p:sp>
      <p:sp>
        <p:nvSpPr>
          <p:cNvPr id="24" name="Shape 21"/>
          <p:cNvSpPr/>
          <p:nvPr/>
        </p:nvSpPr>
        <p:spPr>
          <a:xfrm>
            <a:off x="8637422" y="2799527"/>
            <a:ext cx="329184" cy="329184"/>
          </a:xfrm>
          <a:prstGeom prst="ellipse">
            <a:avLst/>
          </a:prstGeom>
          <a:solidFill>
            <a:srgbClr val="236CFF"/>
          </a:solidFill>
          <a:ln w="12700">
            <a:solidFill>
              <a:srgbClr val="236CFF"/>
            </a:solidFill>
            <a:prstDash val="solid"/>
          </a:ln>
        </p:spPr>
      </p:sp>
      <p:sp>
        <p:nvSpPr>
          <p:cNvPr id="25" name="Text 22"/>
          <p:cNvSpPr txBox="1"/>
          <p:nvPr/>
        </p:nvSpPr>
        <p:spPr>
          <a:xfrm>
            <a:off x="8637422" y="2799527"/>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C</a:t>
            </a:r>
            <a:endParaRPr lang="en-US" sz="1100" dirty="0"/>
          </a:p>
        </p:txBody>
      </p:sp>
      <p:sp>
        <p:nvSpPr>
          <p:cNvPr id="26" name="Shape 23"/>
          <p:cNvSpPr/>
          <p:nvPr/>
        </p:nvSpPr>
        <p:spPr>
          <a:xfrm>
            <a:off x="10482316" y="2302825"/>
            <a:ext cx="329184" cy="329184"/>
          </a:xfrm>
          <a:prstGeom prst="ellipse">
            <a:avLst/>
          </a:prstGeom>
          <a:solidFill>
            <a:srgbClr val="236CFF"/>
          </a:solidFill>
          <a:ln w="12700">
            <a:solidFill>
              <a:srgbClr val="236CFF"/>
            </a:solidFill>
            <a:prstDash val="solid"/>
          </a:ln>
        </p:spPr>
      </p:sp>
      <p:sp>
        <p:nvSpPr>
          <p:cNvPr id="27" name="Text 24"/>
          <p:cNvSpPr txBox="1"/>
          <p:nvPr/>
        </p:nvSpPr>
        <p:spPr>
          <a:xfrm>
            <a:off x="10482316" y="2302825"/>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B</a:t>
            </a:r>
            <a:endParaRPr lang="en-US" sz="1100" dirty="0"/>
          </a:p>
        </p:txBody>
      </p:sp>
      <p:sp>
        <p:nvSpPr>
          <p:cNvPr id="28" name="Shape 25"/>
          <p:cNvSpPr/>
          <p:nvPr/>
        </p:nvSpPr>
        <p:spPr>
          <a:xfrm>
            <a:off x="10198486" y="3012399"/>
            <a:ext cx="329184" cy="329184"/>
          </a:xfrm>
          <a:prstGeom prst="ellipse">
            <a:avLst/>
          </a:prstGeom>
          <a:solidFill>
            <a:srgbClr val="236CFF"/>
          </a:solidFill>
          <a:ln w="12700">
            <a:solidFill>
              <a:srgbClr val="236CFF"/>
            </a:solidFill>
            <a:prstDash val="solid"/>
          </a:ln>
        </p:spPr>
      </p:sp>
      <p:sp>
        <p:nvSpPr>
          <p:cNvPr id="29" name="Text 26"/>
          <p:cNvSpPr txBox="1"/>
          <p:nvPr/>
        </p:nvSpPr>
        <p:spPr>
          <a:xfrm>
            <a:off x="10198486" y="3012399"/>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D</a:t>
            </a:r>
            <a:endParaRPr lang="en-US" sz="1100" dirty="0"/>
          </a:p>
        </p:txBody>
      </p:sp>
      <p:sp>
        <p:nvSpPr>
          <p:cNvPr id="30" name="Shape 27"/>
          <p:cNvSpPr/>
          <p:nvPr/>
        </p:nvSpPr>
        <p:spPr>
          <a:xfrm>
            <a:off x="8566465" y="4147718"/>
            <a:ext cx="329184" cy="329184"/>
          </a:xfrm>
          <a:prstGeom prst="ellipse">
            <a:avLst/>
          </a:prstGeom>
          <a:solidFill>
            <a:srgbClr val="8A91A3"/>
          </a:solidFill>
          <a:ln w="12700">
            <a:solidFill>
              <a:srgbClr val="8A91A3"/>
            </a:solidFill>
            <a:prstDash val="solid"/>
          </a:ln>
        </p:spPr>
      </p:sp>
      <p:sp>
        <p:nvSpPr>
          <p:cNvPr id="31" name="Text 28"/>
          <p:cNvSpPr txBox="1"/>
          <p:nvPr/>
        </p:nvSpPr>
        <p:spPr>
          <a:xfrm>
            <a:off x="8566465" y="414771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E</a:t>
            </a:r>
            <a:endParaRPr lang="en-US" sz="1100" dirty="0"/>
          </a:p>
        </p:txBody>
      </p:sp>
      <p:sp>
        <p:nvSpPr>
          <p:cNvPr id="32" name="Shape 29"/>
          <p:cNvSpPr/>
          <p:nvPr/>
        </p:nvSpPr>
        <p:spPr>
          <a:xfrm>
            <a:off x="8211678" y="4715378"/>
            <a:ext cx="329184" cy="329184"/>
          </a:xfrm>
          <a:prstGeom prst="ellipse">
            <a:avLst/>
          </a:prstGeom>
          <a:solidFill>
            <a:srgbClr val="8A91A3"/>
          </a:solidFill>
          <a:ln w="12700">
            <a:solidFill>
              <a:srgbClr val="8A91A3"/>
            </a:solidFill>
            <a:prstDash val="solid"/>
          </a:ln>
        </p:spPr>
      </p:sp>
      <p:sp>
        <p:nvSpPr>
          <p:cNvPr id="33" name="Text 30"/>
          <p:cNvSpPr txBox="1"/>
          <p:nvPr/>
        </p:nvSpPr>
        <p:spPr>
          <a:xfrm>
            <a:off x="8211678" y="471537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G</a:t>
            </a:r>
            <a:endParaRPr lang="en-US" sz="1100" dirty="0"/>
          </a:p>
        </p:txBody>
      </p:sp>
      <p:sp>
        <p:nvSpPr>
          <p:cNvPr id="34" name="Shape 31"/>
          <p:cNvSpPr/>
          <p:nvPr/>
        </p:nvSpPr>
        <p:spPr>
          <a:xfrm>
            <a:off x="10943539" y="4431548"/>
            <a:ext cx="329184" cy="329184"/>
          </a:xfrm>
          <a:prstGeom prst="ellipse">
            <a:avLst/>
          </a:prstGeom>
          <a:solidFill>
            <a:srgbClr val="8A91A3"/>
          </a:solidFill>
          <a:ln w="12700">
            <a:solidFill>
              <a:srgbClr val="8A91A3"/>
            </a:solidFill>
            <a:prstDash val="solid"/>
          </a:ln>
        </p:spPr>
      </p:sp>
      <p:sp>
        <p:nvSpPr>
          <p:cNvPr id="35" name="Text 32"/>
          <p:cNvSpPr txBox="1"/>
          <p:nvPr/>
        </p:nvSpPr>
        <p:spPr>
          <a:xfrm>
            <a:off x="10943539" y="443154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F</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Headroom: see it coming, fix it inside IES</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One loop that keeps growing companies on IES and gives developers and experts a reason to build for them.</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5</a:t>
            </a:r>
            <a:endParaRPr lang="en-US" sz="900" dirty="0"/>
          </a:p>
        </p:txBody>
      </p:sp>
      <p:sp>
        <p:nvSpPr>
          <p:cNvPr id="6" name="Shape 4"/>
          <p:cNvSpPr/>
          <p:nvPr/>
        </p:nvSpPr>
        <p:spPr>
          <a:xfrm>
            <a:off x="548640" y="1508760"/>
            <a:ext cx="2072579" cy="1371600"/>
          </a:xfrm>
          <a:prstGeom prst="roundRect">
            <a:avLst>
              <a:gd name="adj" fmla="val 5333"/>
            </a:avLst>
          </a:prstGeom>
          <a:solidFill>
            <a:srgbClr val="EEF3FF"/>
          </a:solidFill>
          <a:ln w="9525">
            <a:solidFill>
              <a:srgbClr val="EEF3FF"/>
            </a:solidFill>
            <a:prstDash val="solid"/>
          </a:ln>
        </p:spPr>
      </p:sp>
      <p:sp>
        <p:nvSpPr>
          <p:cNvPr id="7" name="Shape 5"/>
          <p:cNvSpPr/>
          <p:nvPr/>
        </p:nvSpPr>
        <p:spPr>
          <a:xfrm>
            <a:off x="731520" y="1664208"/>
            <a:ext cx="365760" cy="365760"/>
          </a:xfrm>
          <a:prstGeom prst="ellipse">
            <a:avLst/>
          </a:prstGeom>
          <a:solidFill>
            <a:srgbClr val="236CFF"/>
          </a:solidFill>
          <a:ln w="12700">
            <a:solidFill>
              <a:srgbClr val="236CFF"/>
            </a:solidFill>
            <a:prstDash val="solid"/>
          </a:ln>
        </p:spPr>
      </p:sp>
      <p:sp>
        <p:nvSpPr>
          <p:cNvPr id="8" name="Text 6"/>
          <p:cNvSpPr txBox="1"/>
          <p:nvPr/>
        </p:nvSpPr>
        <p:spPr>
          <a:xfrm>
            <a:off x="731520" y="1664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9" name="Text 7"/>
          <p:cNvSpPr txBox="1"/>
          <p:nvPr/>
        </p:nvSpPr>
        <p:spPr>
          <a:xfrm>
            <a:off x="1188720" y="1709928"/>
            <a:ext cx="1341059"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Radar warns</a:t>
            </a:r>
            <a:endParaRPr lang="en-US" sz="1300" dirty="0"/>
          </a:p>
        </p:txBody>
      </p:sp>
      <p:sp>
        <p:nvSpPr>
          <p:cNvPr id="10" name="Text 8"/>
          <p:cNvSpPr txBox="1"/>
          <p:nvPr/>
        </p:nvSpPr>
        <p:spPr>
          <a:xfrm>
            <a:off x="731520" y="2148840"/>
            <a:ext cx="1706819" cy="91440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Reads the books nightly. Flags 40 growth triggers with evidence.</a:t>
            </a:r>
            <a:endParaRPr lang="en-US" sz="1050" dirty="0"/>
          </a:p>
        </p:txBody>
      </p:sp>
      <p:sp>
        <p:nvSpPr>
          <p:cNvPr id="11" name="Shape 9"/>
          <p:cNvSpPr/>
          <p:nvPr/>
        </p:nvSpPr>
        <p:spPr>
          <a:xfrm>
            <a:off x="2804099" y="1508760"/>
            <a:ext cx="2072579" cy="1371600"/>
          </a:xfrm>
          <a:prstGeom prst="roundRect">
            <a:avLst>
              <a:gd name="adj" fmla="val 5333"/>
            </a:avLst>
          </a:prstGeom>
          <a:solidFill>
            <a:srgbClr val="EEF3FF"/>
          </a:solidFill>
          <a:ln w="9525">
            <a:solidFill>
              <a:srgbClr val="EEF3FF"/>
            </a:solidFill>
            <a:prstDash val="solid"/>
          </a:ln>
        </p:spPr>
      </p:sp>
      <p:sp>
        <p:nvSpPr>
          <p:cNvPr id="12" name="Shape 10"/>
          <p:cNvSpPr/>
          <p:nvPr/>
        </p:nvSpPr>
        <p:spPr>
          <a:xfrm>
            <a:off x="2986979" y="1664208"/>
            <a:ext cx="365760" cy="365760"/>
          </a:xfrm>
          <a:prstGeom prst="ellipse">
            <a:avLst/>
          </a:prstGeom>
          <a:solidFill>
            <a:srgbClr val="236CFF"/>
          </a:solidFill>
          <a:ln w="12700">
            <a:solidFill>
              <a:srgbClr val="236CFF"/>
            </a:solidFill>
            <a:prstDash val="solid"/>
          </a:ln>
        </p:spPr>
      </p:sp>
      <p:sp>
        <p:nvSpPr>
          <p:cNvPr id="13" name="Text 11"/>
          <p:cNvSpPr txBox="1"/>
          <p:nvPr/>
        </p:nvSpPr>
        <p:spPr>
          <a:xfrm>
            <a:off x="2986979" y="1664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2"/>
          <p:cNvSpPr txBox="1"/>
          <p:nvPr/>
        </p:nvSpPr>
        <p:spPr>
          <a:xfrm>
            <a:off x="3444179" y="1709928"/>
            <a:ext cx="1341059"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Store matches</a:t>
            </a:r>
            <a:endParaRPr lang="en-US" sz="1300" dirty="0"/>
          </a:p>
        </p:txBody>
      </p:sp>
      <p:sp>
        <p:nvSpPr>
          <p:cNvPr id="15" name="Text 13"/>
          <p:cNvSpPr txBox="1"/>
          <p:nvPr/>
        </p:nvSpPr>
        <p:spPr>
          <a:xfrm>
            <a:off x="2986979" y="2148840"/>
            <a:ext cx="1706819" cy="91440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Suggests the lightest fix: a setting, an Intuit agent, a partner agent, or an expert.</a:t>
            </a:r>
            <a:endParaRPr lang="en-US" sz="1050" dirty="0"/>
          </a:p>
        </p:txBody>
      </p:sp>
      <p:sp>
        <p:nvSpPr>
          <p:cNvPr id="16" name="Shape 14"/>
          <p:cNvSpPr/>
          <p:nvPr/>
        </p:nvSpPr>
        <p:spPr>
          <a:xfrm>
            <a:off x="5059558" y="1508760"/>
            <a:ext cx="2072579" cy="1371600"/>
          </a:xfrm>
          <a:prstGeom prst="roundRect">
            <a:avLst>
              <a:gd name="adj" fmla="val 5333"/>
            </a:avLst>
          </a:prstGeom>
          <a:solidFill>
            <a:srgbClr val="F5F7FB"/>
          </a:solidFill>
          <a:ln w="9525">
            <a:solidFill>
              <a:srgbClr val="F5F7FB"/>
            </a:solidFill>
            <a:prstDash val="solid"/>
          </a:ln>
        </p:spPr>
      </p:sp>
      <p:sp>
        <p:nvSpPr>
          <p:cNvPr id="17" name="Shape 15"/>
          <p:cNvSpPr/>
          <p:nvPr/>
        </p:nvSpPr>
        <p:spPr>
          <a:xfrm>
            <a:off x="5242438" y="1664208"/>
            <a:ext cx="365760" cy="365760"/>
          </a:xfrm>
          <a:prstGeom prst="ellipse">
            <a:avLst/>
          </a:prstGeom>
          <a:solidFill>
            <a:srgbClr val="236CFF"/>
          </a:solidFill>
          <a:ln w="12700">
            <a:solidFill>
              <a:srgbClr val="236CFF"/>
            </a:solidFill>
            <a:prstDash val="solid"/>
          </a:ln>
        </p:spPr>
      </p:sp>
      <p:sp>
        <p:nvSpPr>
          <p:cNvPr id="18" name="Text 16"/>
          <p:cNvSpPr txBox="1"/>
          <p:nvPr/>
        </p:nvSpPr>
        <p:spPr>
          <a:xfrm>
            <a:off x="5242438" y="1664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7"/>
          <p:cNvSpPr txBox="1"/>
          <p:nvPr/>
        </p:nvSpPr>
        <p:spPr>
          <a:xfrm>
            <a:off x="5699638" y="1709928"/>
            <a:ext cx="1341059"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Agent works</a:t>
            </a:r>
            <a:endParaRPr lang="en-US" sz="1300" dirty="0"/>
          </a:p>
        </p:txBody>
      </p:sp>
      <p:sp>
        <p:nvSpPr>
          <p:cNvPr id="20" name="Text 18"/>
          <p:cNvSpPr txBox="1"/>
          <p:nvPr/>
        </p:nvSpPr>
        <p:spPr>
          <a:xfrm>
            <a:off x="5242438" y="2148840"/>
            <a:ext cx="1706819" cy="91440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Runs in shadow mode first, then proposes entries with sources attached.</a:t>
            </a:r>
            <a:endParaRPr lang="en-US" sz="1050" dirty="0"/>
          </a:p>
        </p:txBody>
      </p:sp>
      <p:sp>
        <p:nvSpPr>
          <p:cNvPr id="21" name="Shape 19"/>
          <p:cNvSpPr/>
          <p:nvPr/>
        </p:nvSpPr>
        <p:spPr>
          <a:xfrm>
            <a:off x="7315017" y="1508760"/>
            <a:ext cx="2072579" cy="1371600"/>
          </a:xfrm>
          <a:prstGeom prst="roundRect">
            <a:avLst>
              <a:gd name="adj" fmla="val 5333"/>
            </a:avLst>
          </a:prstGeom>
          <a:solidFill>
            <a:srgbClr val="F5F7FB"/>
          </a:solidFill>
          <a:ln w="9525">
            <a:solidFill>
              <a:srgbClr val="F5F7FB"/>
            </a:solidFill>
            <a:prstDash val="solid"/>
          </a:ln>
        </p:spPr>
      </p:sp>
      <p:sp>
        <p:nvSpPr>
          <p:cNvPr id="22" name="Shape 20"/>
          <p:cNvSpPr/>
          <p:nvPr/>
        </p:nvSpPr>
        <p:spPr>
          <a:xfrm>
            <a:off x="7497897" y="1664208"/>
            <a:ext cx="365760" cy="365760"/>
          </a:xfrm>
          <a:prstGeom prst="ellipse">
            <a:avLst/>
          </a:prstGeom>
          <a:solidFill>
            <a:srgbClr val="236CFF"/>
          </a:solidFill>
          <a:ln w="12700">
            <a:solidFill>
              <a:srgbClr val="236CFF"/>
            </a:solidFill>
            <a:prstDash val="solid"/>
          </a:ln>
        </p:spPr>
      </p:sp>
      <p:sp>
        <p:nvSpPr>
          <p:cNvPr id="23" name="Text 21"/>
          <p:cNvSpPr txBox="1"/>
          <p:nvPr/>
        </p:nvSpPr>
        <p:spPr>
          <a:xfrm>
            <a:off x="7497897" y="1664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4" name="Text 22"/>
          <p:cNvSpPr txBox="1"/>
          <p:nvPr/>
        </p:nvSpPr>
        <p:spPr>
          <a:xfrm>
            <a:off x="7955097" y="1709928"/>
            <a:ext cx="1341059"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Expert checks</a:t>
            </a:r>
            <a:endParaRPr lang="en-US" sz="1300" dirty="0"/>
          </a:p>
        </p:txBody>
      </p:sp>
      <p:sp>
        <p:nvSpPr>
          <p:cNvPr id="25" name="Text 23"/>
          <p:cNvSpPr txBox="1"/>
          <p:nvPr/>
        </p:nvSpPr>
        <p:spPr>
          <a:xfrm>
            <a:off x="7497897" y="2148840"/>
            <a:ext cx="1706819" cy="91440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Anything unsure, new or high-stakes goes to an Intuit CPA.</a:t>
            </a:r>
            <a:endParaRPr lang="en-US" sz="1050" dirty="0"/>
          </a:p>
        </p:txBody>
      </p:sp>
      <p:sp>
        <p:nvSpPr>
          <p:cNvPr id="26" name="Shape 24"/>
          <p:cNvSpPr/>
          <p:nvPr/>
        </p:nvSpPr>
        <p:spPr>
          <a:xfrm>
            <a:off x="9570476" y="1508760"/>
            <a:ext cx="2072579" cy="1371600"/>
          </a:xfrm>
          <a:prstGeom prst="roundRect">
            <a:avLst>
              <a:gd name="adj" fmla="val 5333"/>
            </a:avLst>
          </a:prstGeom>
          <a:solidFill>
            <a:srgbClr val="F5F7FB"/>
          </a:solidFill>
          <a:ln w="9525">
            <a:solidFill>
              <a:srgbClr val="F5F7FB"/>
            </a:solidFill>
            <a:prstDash val="solid"/>
          </a:ln>
        </p:spPr>
      </p:sp>
      <p:sp>
        <p:nvSpPr>
          <p:cNvPr id="27" name="Shape 25"/>
          <p:cNvSpPr/>
          <p:nvPr/>
        </p:nvSpPr>
        <p:spPr>
          <a:xfrm>
            <a:off x="9753356" y="1664208"/>
            <a:ext cx="365760" cy="365760"/>
          </a:xfrm>
          <a:prstGeom prst="ellipse">
            <a:avLst/>
          </a:prstGeom>
          <a:solidFill>
            <a:srgbClr val="236CFF"/>
          </a:solidFill>
          <a:ln w="12700">
            <a:solidFill>
              <a:srgbClr val="236CFF"/>
            </a:solidFill>
            <a:prstDash val="solid"/>
          </a:ln>
        </p:spPr>
      </p:sp>
      <p:sp>
        <p:nvSpPr>
          <p:cNvPr id="28" name="Text 26"/>
          <p:cNvSpPr txBox="1"/>
          <p:nvPr/>
        </p:nvSpPr>
        <p:spPr>
          <a:xfrm>
            <a:off x="9753356" y="166420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5</a:t>
            </a:r>
            <a:endParaRPr lang="en-US" sz="1200" dirty="0"/>
          </a:p>
        </p:txBody>
      </p:sp>
      <p:sp>
        <p:nvSpPr>
          <p:cNvPr id="29" name="Text 27"/>
          <p:cNvSpPr txBox="1"/>
          <p:nvPr/>
        </p:nvSpPr>
        <p:spPr>
          <a:xfrm>
            <a:off x="10210556" y="1709928"/>
            <a:ext cx="1341059"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Developers build</a:t>
            </a:r>
            <a:endParaRPr lang="en-US" sz="1300" dirty="0"/>
          </a:p>
        </p:txBody>
      </p:sp>
      <p:sp>
        <p:nvSpPr>
          <p:cNvPr id="30" name="Text 28"/>
          <p:cNvSpPr txBox="1"/>
          <p:nvPr/>
        </p:nvSpPr>
        <p:spPr>
          <a:xfrm>
            <a:off x="9753356" y="2148840"/>
            <a:ext cx="1706819" cy="91440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Unmet needs show up on a demand board, so the store fills with what is missing.</a:t>
            </a:r>
            <a:endParaRPr lang="en-US" sz="1050" dirty="0"/>
          </a:p>
        </p:txBody>
      </p:sp>
      <p:sp>
        <p:nvSpPr>
          <p:cNvPr id="31" name="Text 29"/>
          <p:cNvSpPr txBox="1"/>
          <p:nvPr/>
        </p:nvSpPr>
        <p:spPr>
          <a:xfrm>
            <a:off x="548640" y="3017520"/>
            <a:ext cx="11094415" cy="274320"/>
          </a:xfrm>
          <a:prstGeom prst="rect">
            <a:avLst/>
          </a:prstGeom>
          <a:noFill/>
          <a:ln/>
        </p:spPr>
        <p:txBody>
          <a:bodyPr wrap="square" lIns="0" tIns="0" rIns="0" bIns="0" rtlCol="0" anchor="t"/>
          <a:lstStyle/>
          <a:p>
            <a:pPr indent="0" marL="0">
              <a:buNone/>
            </a:pPr>
            <a:r>
              <a:rPr lang="en-US" sz="1100" i="1" dirty="0">
                <a:solidFill>
                  <a:srgbClr val="5A6275"/>
                </a:solidFill>
                <a:latin typeface="Arial" pitchFamily="34" charset="0"/>
                <a:ea typeface="Arial" pitchFamily="34" charset="-122"/>
                <a:cs typeface="Arial" pitchFamily="34" charset="-120"/>
              </a:rPr>
              <a:t>Expert corrections become new test cases for the agent, so every review makes the next answer better.</a:t>
            </a:r>
            <a:endParaRPr lang="en-US" sz="1100" dirty="0"/>
          </a:p>
        </p:txBody>
      </p:sp>
      <p:sp>
        <p:nvSpPr>
          <p:cNvPr id="32" name="Text 30"/>
          <p:cNvSpPr txBox="1"/>
          <p:nvPr/>
        </p:nvSpPr>
        <p:spPr>
          <a:xfrm>
            <a:off x="548640" y="3611880"/>
            <a:ext cx="640080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WHO DOES WHAT: THE HUMAN AND AI OPERATING MODEL</a:t>
            </a:r>
            <a:endParaRPr lang="en-US" sz="9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886200"/>
          <a:ext cx="6766560" cy="914400"/>
        </p:xfrm>
        <a:graphic>
          <a:graphicData uri="http://schemas.openxmlformats.org/drawingml/2006/table">
            <a:tbl>
              <a:tblPr/>
              <a:tblGrid>
                <a:gridCol w="1554480"/>
                <a:gridCol w="3474720"/>
                <a:gridCol w="1737360"/>
              </a:tblGrid>
              <a:tr h="310896">
                <a:tc>
                  <a:txBody>
                    <a:bodyPr/>
                    <a:lstStyle/>
                    <a:p>
                      <a:pPr indent="0" marL="0">
                        <a:buNone/>
                      </a:pPr>
                      <a:r>
                        <a:rPr lang="en-US" sz="900" b="1" dirty="0">
                          <a:solidFill>
                            <a:srgbClr val="5A6275"/>
                          </a:solidFill>
                          <a:latin typeface="Arial" pitchFamily="34" charset="0"/>
                          <a:ea typeface="Arial" pitchFamily="34" charset="-122"/>
                          <a:cs typeface="Arial" pitchFamily="34" charset="-120"/>
                        </a:rPr>
                        <a:t>Mode</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When it applies</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Example</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457200">
                <a:tc>
                  <a:txBody>
                    <a:bodyPr/>
                    <a:lstStyle/>
                    <a:p>
                      <a:pPr indent="0" marL="0">
                        <a:buNone/>
                      </a:pPr>
                      <a:r>
                        <a:rPr lang="en-US" sz="1050" b="1" dirty="0">
                          <a:solidFill>
                            <a:srgbClr val="108043"/>
                          </a:solidFill>
                          <a:latin typeface="Arial" pitchFamily="34" charset="0"/>
                          <a:ea typeface="Arial" pitchFamily="34" charset="-122"/>
                          <a:cs typeface="Arial" pitchFamily="34" charset="-120"/>
                        </a:rPr>
                        <a:t>Acts on its own</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Rule-based, reversible work with a 99%+ record</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Bank reconciliation</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236CFF"/>
                          </a:solidFill>
                          <a:latin typeface="Arial" pitchFamily="34" charset="0"/>
                          <a:ea typeface="Arial" pitchFamily="34" charset="-122"/>
                          <a:cs typeface="Arial" pitchFamily="34" charset="-120"/>
                        </a:rPr>
                        <a:t>Acts with approval</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Any ledger posting over the company's threshold, and every new agent's first 14 days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Revenue deferral entry</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57200">
                <a:tc>
                  <a:txBody>
                    <a:bodyPr/>
                    <a:lstStyle/>
                    <a:p>
                      <a:pPr indent="0" marL="0">
                        <a:buNone/>
                      </a:pPr>
                      <a:r>
                        <a:rPr lang="en-US" sz="1050" b="1" dirty="0">
                          <a:solidFill>
                            <a:srgbClr val="5B3FD6"/>
                          </a:solidFill>
                          <a:latin typeface="Arial" pitchFamily="34" charset="0"/>
                          <a:ea typeface="Arial" pitchFamily="34" charset="-122"/>
                          <a:cs typeface="Arial" pitchFamily="34" charset="-120"/>
                        </a:rPr>
                        <a:t>Expert sign-off</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Confidence under 80%, tax in a new country, loan covenants, new rules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UK legal fee accrual</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
        <p:nvSpPr>
          <p:cNvPr id="34" name="Text 31"/>
          <p:cNvSpPr txBox="1"/>
          <p:nvPr/>
        </p:nvSpPr>
        <p:spPr>
          <a:xfrm>
            <a:off x="7680960" y="3611880"/>
            <a:ext cx="3962095"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PRINCIPLES</a:t>
            </a:r>
            <a:endParaRPr lang="en-US" sz="950" dirty="0"/>
          </a:p>
        </p:txBody>
      </p:sp>
      <p:sp>
        <p:nvSpPr>
          <p:cNvPr id="35" name="Shape 32"/>
          <p:cNvSpPr/>
          <p:nvPr/>
        </p:nvSpPr>
        <p:spPr>
          <a:xfrm>
            <a:off x="7680960" y="3886200"/>
            <a:ext cx="3962095" cy="685800"/>
          </a:xfrm>
          <a:prstGeom prst="roundRect">
            <a:avLst>
              <a:gd name="adj" fmla="val 10667"/>
            </a:avLst>
          </a:prstGeom>
          <a:solidFill>
            <a:srgbClr val="FFFFFF"/>
          </a:solidFill>
          <a:ln w="9525">
            <a:solidFill>
              <a:srgbClr val="DCE1EB"/>
            </a:solidFill>
            <a:prstDash val="solid"/>
          </a:ln>
        </p:spPr>
      </p:sp>
      <p:sp>
        <p:nvSpPr>
          <p:cNvPr id="36" name="Text 33"/>
          <p:cNvSpPr txBox="1"/>
          <p:nvPr/>
        </p:nvSpPr>
        <p:spPr>
          <a:xfrm>
            <a:off x="7845552" y="3977640"/>
            <a:ext cx="3632911" cy="548640"/>
          </a:xfrm>
          <a:prstGeom prst="rect">
            <a:avLst/>
          </a:prstGeom>
          <a:noFill/>
          <a:ln/>
        </p:spPr>
        <p:txBody>
          <a:bodyPr wrap="square" lIns="0" tIns="0" rIns="0" bIns="0" rtlCol="0" anchor="t"/>
          <a:lstStyle/>
          <a:p>
            <a:pPr indent="0" marL="0">
              <a:buNone/>
            </a:pPr>
            <a:r>
              <a:rPr lang="en-US" sz="1100" b="1" dirty="0">
                <a:solidFill>
                  <a:srgbClr val="0D1B3E"/>
                </a:solidFill>
                <a:latin typeface="Arial" pitchFamily="34" charset="0"/>
                <a:ea typeface="Arial" pitchFamily="34" charset="-122"/>
                <a:cs typeface="Arial" pitchFamily="34" charset="-120"/>
              </a:rPr>
              <a:t>Catch it early. </a:t>
            </a:r>
            <a:pPr indent="0" marL="0">
              <a:buNone/>
            </a:pPr>
            <a:r>
              <a:rPr lang="en-US" sz="1100" dirty="0">
                <a:solidFill>
                  <a:srgbClr val="1F2433"/>
                </a:solidFill>
                <a:latin typeface="Arial" pitchFamily="34" charset="0"/>
                <a:ea typeface="Arial" pitchFamily="34" charset="-122"/>
                <a:cs typeface="Arial" pitchFamily="34" charset="-120"/>
              </a:rPr>
              <a:t>Act on signals in the books, months before the customer starts shopping.</a:t>
            </a:r>
            <a:endParaRPr lang="en-US" sz="1100" dirty="0"/>
          </a:p>
        </p:txBody>
      </p:sp>
      <p:sp>
        <p:nvSpPr>
          <p:cNvPr id="37" name="Shape 34"/>
          <p:cNvSpPr/>
          <p:nvPr/>
        </p:nvSpPr>
        <p:spPr>
          <a:xfrm>
            <a:off x="7680960" y="4663440"/>
            <a:ext cx="3962095" cy="685800"/>
          </a:xfrm>
          <a:prstGeom prst="roundRect">
            <a:avLst>
              <a:gd name="adj" fmla="val 10667"/>
            </a:avLst>
          </a:prstGeom>
          <a:solidFill>
            <a:srgbClr val="FFFFFF"/>
          </a:solidFill>
          <a:ln w="9525">
            <a:solidFill>
              <a:srgbClr val="DCE1EB"/>
            </a:solidFill>
            <a:prstDash val="solid"/>
          </a:ln>
        </p:spPr>
      </p:sp>
      <p:sp>
        <p:nvSpPr>
          <p:cNvPr id="38" name="Text 35"/>
          <p:cNvSpPr txBox="1"/>
          <p:nvPr/>
        </p:nvSpPr>
        <p:spPr>
          <a:xfrm>
            <a:off x="7845552" y="4754880"/>
            <a:ext cx="3632911" cy="548640"/>
          </a:xfrm>
          <a:prstGeom prst="rect">
            <a:avLst/>
          </a:prstGeom>
          <a:noFill/>
          <a:ln/>
        </p:spPr>
        <p:txBody>
          <a:bodyPr wrap="square" lIns="0" tIns="0" rIns="0" bIns="0" rtlCol="0" anchor="t"/>
          <a:lstStyle/>
          <a:p>
            <a:pPr indent="0" marL="0">
              <a:buNone/>
            </a:pPr>
            <a:r>
              <a:rPr lang="en-US" sz="1100" b="1" dirty="0">
                <a:solidFill>
                  <a:srgbClr val="0D1B3E"/>
                </a:solidFill>
                <a:latin typeface="Arial" pitchFamily="34" charset="0"/>
                <a:ea typeface="Arial" pitchFamily="34" charset="-122"/>
                <a:cs typeface="Arial" pitchFamily="34" charset="-120"/>
              </a:rPr>
              <a:t>Earn autonomy. </a:t>
            </a:r>
            <a:pPr indent="0" marL="0">
              <a:buNone/>
            </a:pPr>
            <a:r>
              <a:rPr lang="en-US" sz="1100" dirty="0">
                <a:solidFill>
                  <a:srgbClr val="1F2433"/>
                </a:solidFill>
                <a:latin typeface="Arial" pitchFamily="34" charset="0"/>
                <a:ea typeface="Arial" pitchFamily="34" charset="-122"/>
                <a:cs typeface="Arial" pitchFamily="34" charset="-120"/>
              </a:rPr>
              <a:t>Each agent starts at approval-only and must prove accuracy to do more.</a:t>
            </a:r>
            <a:endParaRPr lang="en-US" sz="1100" dirty="0"/>
          </a:p>
        </p:txBody>
      </p:sp>
      <p:sp>
        <p:nvSpPr>
          <p:cNvPr id="39" name="Shape 36"/>
          <p:cNvSpPr/>
          <p:nvPr/>
        </p:nvSpPr>
        <p:spPr>
          <a:xfrm>
            <a:off x="7680960" y="5440680"/>
            <a:ext cx="3962095" cy="685800"/>
          </a:xfrm>
          <a:prstGeom prst="roundRect">
            <a:avLst>
              <a:gd name="adj" fmla="val 10667"/>
            </a:avLst>
          </a:prstGeom>
          <a:solidFill>
            <a:srgbClr val="FFFFFF"/>
          </a:solidFill>
          <a:ln w="9525">
            <a:solidFill>
              <a:srgbClr val="DCE1EB"/>
            </a:solidFill>
            <a:prstDash val="solid"/>
          </a:ln>
        </p:spPr>
      </p:sp>
      <p:sp>
        <p:nvSpPr>
          <p:cNvPr id="40" name="Text 37"/>
          <p:cNvSpPr txBox="1"/>
          <p:nvPr/>
        </p:nvSpPr>
        <p:spPr>
          <a:xfrm>
            <a:off x="7845552" y="5532120"/>
            <a:ext cx="3632911" cy="548640"/>
          </a:xfrm>
          <a:prstGeom prst="rect">
            <a:avLst/>
          </a:prstGeom>
          <a:noFill/>
          <a:ln/>
        </p:spPr>
        <p:txBody>
          <a:bodyPr wrap="square" lIns="0" tIns="0" rIns="0" bIns="0" rtlCol="0" anchor="t"/>
          <a:lstStyle/>
          <a:p>
            <a:pPr indent="0" marL="0">
              <a:buNone/>
            </a:pPr>
            <a:r>
              <a:rPr lang="en-US" sz="1100" b="1" dirty="0">
                <a:solidFill>
                  <a:srgbClr val="0D1B3E"/>
                </a:solidFill>
                <a:latin typeface="Arial" pitchFamily="34" charset="0"/>
                <a:ea typeface="Arial" pitchFamily="34" charset="-122"/>
                <a:cs typeface="Arial" pitchFamily="34" charset="-120"/>
              </a:rPr>
              <a:t>Build to demand. </a:t>
            </a:r>
            <a:pPr indent="0" marL="0">
              <a:buNone/>
            </a:pPr>
            <a:r>
              <a:rPr lang="en-US" sz="1100" dirty="0">
                <a:solidFill>
                  <a:srgbClr val="1F2433"/>
                </a:solidFill>
                <a:latin typeface="Arial" pitchFamily="34" charset="0"/>
                <a:ea typeface="Arial" pitchFamily="34" charset="-122"/>
                <a:cs typeface="Arial" pitchFamily="34" charset="-120"/>
              </a:rPr>
              <a:t>Developers see what customers need before they write a line of code.</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What it looks like</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The clickable prototype has three views and a 12-step guided tour. It takes about 12 minutes.</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6</a:t>
            </a:r>
            <a:endParaRPr lang="en-US" sz="900" dirty="0"/>
          </a:p>
        </p:txBody>
      </p:sp>
      <p:sp>
        <p:nvSpPr>
          <p:cNvPr id="6" name="Shape 4"/>
          <p:cNvSpPr/>
          <p:nvPr/>
        </p:nvSpPr>
        <p:spPr>
          <a:xfrm>
            <a:off x="548640" y="1508760"/>
            <a:ext cx="2602154" cy="2423160"/>
          </a:xfrm>
          <a:prstGeom prst="roundRect">
            <a:avLst>
              <a:gd name="adj" fmla="val 3019"/>
            </a:avLst>
          </a:prstGeom>
          <a:solidFill>
            <a:srgbClr val="F5F7FB"/>
          </a:solidFill>
          <a:ln w="9525">
            <a:solidFill>
              <a:srgbClr val="DCE1EB"/>
            </a:solidFill>
            <a:prstDash val="solid"/>
          </a:ln>
        </p:spPr>
      </p:sp>
      <p:pic>
        <p:nvPicPr>
          <p:cNvPr id="7" name="Image 0" descr="/home/user/LearnPython/ies-headroom/deck/assets/e_fix.png">    </p:cNvPr>
          <p:cNvPicPr>
            <a:picLocks noChangeAspect="1"/>
          </p:cNvPicPr>
          <p:nvPr/>
        </p:nvPicPr>
        <p:blipFill>
          <a:blip r:embed="rId1"/>
          <a:stretch>
            <a:fillRect/>
          </a:stretch>
        </p:blipFill>
        <p:spPr>
          <a:xfrm>
            <a:off x="735788" y="1554480"/>
            <a:ext cx="2227857" cy="2331720"/>
          </a:xfrm>
          <a:prstGeom prst="rect">
            <a:avLst/>
          </a:prstGeom>
        </p:spPr>
      </p:pic>
      <p:sp>
        <p:nvSpPr>
          <p:cNvPr id="8" name="Shape 5"/>
          <p:cNvSpPr/>
          <p:nvPr/>
        </p:nvSpPr>
        <p:spPr>
          <a:xfrm>
            <a:off x="548640" y="4114800"/>
            <a:ext cx="310896" cy="310896"/>
          </a:xfrm>
          <a:prstGeom prst="ellipse">
            <a:avLst/>
          </a:prstGeom>
          <a:solidFill>
            <a:srgbClr val="236CFF"/>
          </a:solidFill>
          <a:ln w="12700">
            <a:solidFill>
              <a:srgbClr val="236CFF"/>
            </a:solidFill>
            <a:prstDash val="solid"/>
          </a:ln>
        </p:spPr>
      </p:sp>
      <p:sp>
        <p:nvSpPr>
          <p:cNvPr id="9" name="Text 6"/>
          <p:cNvSpPr txBox="1"/>
          <p:nvPr/>
        </p:nvSpPr>
        <p:spPr>
          <a:xfrm>
            <a:off x="548640"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1</a:t>
            </a:r>
            <a:endParaRPr lang="en-US" sz="1100" dirty="0"/>
          </a:p>
        </p:txBody>
      </p:sp>
      <p:sp>
        <p:nvSpPr>
          <p:cNvPr id="10" name="Text 7"/>
          <p:cNvSpPr txBox="1"/>
          <p:nvPr/>
        </p:nvSpPr>
        <p:spPr>
          <a:xfrm>
            <a:off x="960120" y="4133088"/>
            <a:ext cx="2190674" cy="274320"/>
          </a:xfrm>
          <a:prstGeom prst="rect">
            <a:avLst/>
          </a:prstGeom>
          <a:noFill/>
          <a:ln/>
        </p:spPr>
        <p:txBody>
          <a:bodyPr wrap="square" lIns="0" tIns="0" rIns="0" bIns="0" rtlCol="0" anchor="t"/>
          <a:lstStyle/>
          <a:p>
            <a:pPr indent="0" marL="0">
              <a:buNone/>
            </a:pPr>
            <a:r>
              <a:rPr lang="en-US" sz="1250" b="1" dirty="0">
                <a:solidFill>
                  <a:srgbClr val="0D1B3E"/>
                </a:solidFill>
                <a:latin typeface="Arial" pitchFamily="34" charset="0"/>
                <a:ea typeface="Arial" pitchFamily="34" charset="-122"/>
                <a:cs typeface="Arial" pitchFamily="34" charset="-120"/>
              </a:rPr>
              <a:t>Radar offers fixes</a:t>
            </a:r>
            <a:endParaRPr lang="en-US" sz="1250" dirty="0"/>
          </a:p>
        </p:txBody>
      </p:sp>
      <p:sp>
        <p:nvSpPr>
          <p:cNvPr id="11" name="Text 8"/>
          <p:cNvSpPr txBox="1"/>
          <p:nvPr/>
        </p:nvSpPr>
        <p:spPr>
          <a:xfrm>
            <a:off x="548640" y="4526280"/>
            <a:ext cx="2602154" cy="82296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Subscription revenue was booked up front. Radar suggests three fixes, lightest first.</a:t>
            </a:r>
            <a:endParaRPr lang="en-US" sz="1050" dirty="0"/>
          </a:p>
        </p:txBody>
      </p:sp>
      <p:sp>
        <p:nvSpPr>
          <p:cNvPr id="12" name="Shape 9"/>
          <p:cNvSpPr/>
          <p:nvPr/>
        </p:nvSpPr>
        <p:spPr>
          <a:xfrm>
            <a:off x="3379394" y="1508760"/>
            <a:ext cx="2602154" cy="2423160"/>
          </a:xfrm>
          <a:prstGeom prst="roundRect">
            <a:avLst>
              <a:gd name="adj" fmla="val 3019"/>
            </a:avLst>
          </a:prstGeom>
          <a:solidFill>
            <a:srgbClr val="F5F7FB"/>
          </a:solidFill>
          <a:ln w="9525">
            <a:solidFill>
              <a:srgbClr val="DCE1EB"/>
            </a:solidFill>
            <a:prstDash val="solid"/>
          </a:ln>
        </p:spPr>
      </p:sp>
      <p:pic>
        <p:nvPicPr>
          <p:cNvPr id="13" name="Image 1" descr="/home/user/LearnPython/ies-headroom/deck/assets/e_trust.png">    </p:cNvPr>
          <p:cNvPicPr>
            <a:picLocks noChangeAspect="1"/>
          </p:cNvPicPr>
          <p:nvPr/>
        </p:nvPicPr>
        <p:blipFill>
          <a:blip r:embed="rId2"/>
          <a:stretch>
            <a:fillRect/>
          </a:stretch>
        </p:blipFill>
        <p:spPr>
          <a:xfrm>
            <a:off x="3583642" y="1554480"/>
            <a:ext cx="2193658" cy="2331720"/>
          </a:xfrm>
          <a:prstGeom prst="rect">
            <a:avLst/>
          </a:prstGeom>
        </p:spPr>
      </p:pic>
      <p:sp>
        <p:nvSpPr>
          <p:cNvPr id="14" name="Shape 10"/>
          <p:cNvSpPr/>
          <p:nvPr/>
        </p:nvSpPr>
        <p:spPr>
          <a:xfrm>
            <a:off x="3379394" y="4114800"/>
            <a:ext cx="310896" cy="310896"/>
          </a:xfrm>
          <a:prstGeom prst="ellipse">
            <a:avLst/>
          </a:prstGeom>
          <a:solidFill>
            <a:srgbClr val="236CFF"/>
          </a:solidFill>
          <a:ln w="12700">
            <a:solidFill>
              <a:srgbClr val="236CFF"/>
            </a:solidFill>
            <a:prstDash val="solid"/>
          </a:ln>
        </p:spPr>
      </p:sp>
      <p:sp>
        <p:nvSpPr>
          <p:cNvPr id="15" name="Text 11"/>
          <p:cNvSpPr txBox="1"/>
          <p:nvPr/>
        </p:nvSpPr>
        <p:spPr>
          <a:xfrm>
            <a:off x="3379394"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2</a:t>
            </a:r>
            <a:endParaRPr lang="en-US" sz="1100" dirty="0"/>
          </a:p>
        </p:txBody>
      </p:sp>
      <p:sp>
        <p:nvSpPr>
          <p:cNvPr id="16" name="Text 12"/>
          <p:cNvSpPr txBox="1"/>
          <p:nvPr/>
        </p:nvSpPr>
        <p:spPr>
          <a:xfrm>
            <a:off x="3790874" y="4133088"/>
            <a:ext cx="2190674" cy="274320"/>
          </a:xfrm>
          <a:prstGeom prst="rect">
            <a:avLst/>
          </a:prstGeom>
          <a:noFill/>
          <a:ln/>
        </p:spPr>
        <p:txBody>
          <a:bodyPr wrap="square" lIns="0" tIns="0" rIns="0" bIns="0" rtlCol="0" anchor="t"/>
          <a:lstStyle/>
          <a:p>
            <a:pPr indent="0" marL="0">
              <a:buNone/>
            </a:pPr>
            <a:r>
              <a:rPr lang="en-US" sz="1250" b="1" dirty="0">
                <a:solidFill>
                  <a:srgbClr val="0D1B3E"/>
                </a:solidFill>
                <a:latin typeface="Arial" pitchFamily="34" charset="0"/>
                <a:ea typeface="Arial" pitchFamily="34" charset="-122"/>
                <a:cs typeface="Arial" pitchFamily="34" charset="-120"/>
              </a:rPr>
              <a:t>Trust before install</a:t>
            </a:r>
            <a:endParaRPr lang="en-US" sz="1250" dirty="0"/>
          </a:p>
        </p:txBody>
      </p:sp>
      <p:sp>
        <p:nvSpPr>
          <p:cNvPr id="17" name="Text 13"/>
          <p:cNvSpPr txBox="1"/>
          <p:nvPr/>
        </p:nvSpPr>
        <p:spPr>
          <a:xfrm>
            <a:off x="3379394" y="4526280"/>
            <a:ext cx="2602154" cy="82296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Every agent shows its test results, live accuracy and price for this company's volume.</a:t>
            </a:r>
            <a:endParaRPr lang="en-US" sz="1050" dirty="0"/>
          </a:p>
        </p:txBody>
      </p:sp>
      <p:sp>
        <p:nvSpPr>
          <p:cNvPr id="18" name="Shape 14"/>
          <p:cNvSpPr/>
          <p:nvPr/>
        </p:nvSpPr>
        <p:spPr>
          <a:xfrm>
            <a:off x="6210148" y="1508760"/>
            <a:ext cx="2602154" cy="2423160"/>
          </a:xfrm>
          <a:prstGeom prst="roundRect">
            <a:avLst>
              <a:gd name="adj" fmla="val 3019"/>
            </a:avLst>
          </a:prstGeom>
          <a:solidFill>
            <a:srgbClr val="F5F7FB"/>
          </a:solidFill>
          <a:ln w="9525">
            <a:solidFill>
              <a:srgbClr val="DCE1EB"/>
            </a:solidFill>
            <a:prstDash val="solid"/>
          </a:ln>
        </p:spPr>
      </p:sp>
      <p:pic>
        <p:nvPicPr>
          <p:cNvPr id="19" name="Image 2" descr="/home/user/LearnPython/ies-headroom/deck/assets/e_task.png">    </p:cNvPr>
          <p:cNvPicPr>
            <a:picLocks noChangeAspect="1"/>
          </p:cNvPicPr>
          <p:nvPr/>
        </p:nvPicPr>
        <p:blipFill>
          <a:blip r:embed="rId3"/>
          <a:stretch>
            <a:fillRect/>
          </a:stretch>
        </p:blipFill>
        <p:spPr>
          <a:xfrm>
            <a:off x="6563963" y="1554480"/>
            <a:ext cx="1894523" cy="2331720"/>
          </a:xfrm>
          <a:prstGeom prst="rect">
            <a:avLst/>
          </a:prstGeom>
        </p:spPr>
      </p:pic>
      <p:sp>
        <p:nvSpPr>
          <p:cNvPr id="20" name="Shape 15"/>
          <p:cNvSpPr/>
          <p:nvPr/>
        </p:nvSpPr>
        <p:spPr>
          <a:xfrm>
            <a:off x="6210148" y="4114800"/>
            <a:ext cx="310896" cy="310896"/>
          </a:xfrm>
          <a:prstGeom prst="ellipse">
            <a:avLst/>
          </a:prstGeom>
          <a:solidFill>
            <a:srgbClr val="236CFF"/>
          </a:solidFill>
          <a:ln w="12700">
            <a:solidFill>
              <a:srgbClr val="236CFF"/>
            </a:solidFill>
            <a:prstDash val="solid"/>
          </a:ln>
        </p:spPr>
      </p:sp>
      <p:sp>
        <p:nvSpPr>
          <p:cNvPr id="21" name="Text 16"/>
          <p:cNvSpPr txBox="1"/>
          <p:nvPr/>
        </p:nvSpPr>
        <p:spPr>
          <a:xfrm>
            <a:off x="6210148"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3</a:t>
            </a:r>
            <a:endParaRPr lang="en-US" sz="1100" dirty="0"/>
          </a:p>
        </p:txBody>
      </p:sp>
      <p:sp>
        <p:nvSpPr>
          <p:cNvPr id="22" name="Text 17"/>
          <p:cNvSpPr txBox="1"/>
          <p:nvPr/>
        </p:nvSpPr>
        <p:spPr>
          <a:xfrm>
            <a:off x="6621628" y="4133088"/>
            <a:ext cx="2190674" cy="274320"/>
          </a:xfrm>
          <a:prstGeom prst="rect">
            <a:avLst/>
          </a:prstGeom>
          <a:noFill/>
          <a:ln/>
        </p:spPr>
        <p:txBody>
          <a:bodyPr wrap="square" lIns="0" tIns="0" rIns="0" bIns="0" rtlCol="0" anchor="t"/>
          <a:lstStyle/>
          <a:p>
            <a:pPr indent="0" marL="0">
              <a:buNone/>
            </a:pPr>
            <a:r>
              <a:rPr lang="en-US" sz="1250" b="1" dirty="0">
                <a:solidFill>
                  <a:srgbClr val="0D1B3E"/>
                </a:solidFill>
                <a:latin typeface="Arial" pitchFamily="34" charset="0"/>
                <a:ea typeface="Arial" pitchFamily="34" charset="-122"/>
                <a:cs typeface="Arial" pitchFamily="34" charset="-120"/>
              </a:rPr>
              <a:t>Approve with sources</a:t>
            </a:r>
            <a:endParaRPr lang="en-US" sz="1250" dirty="0"/>
          </a:p>
        </p:txBody>
      </p:sp>
      <p:sp>
        <p:nvSpPr>
          <p:cNvPr id="23" name="Text 18"/>
          <p:cNvSpPr txBox="1"/>
          <p:nvPr/>
        </p:nvSpPr>
        <p:spPr>
          <a:xfrm>
            <a:off x="6210148" y="4526280"/>
            <a:ext cx="2602154" cy="82296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The agent explains its entry, links 1,284 invoices, and matched the team's estimate in shadow mode.</a:t>
            </a:r>
            <a:endParaRPr lang="en-US" sz="1050" dirty="0"/>
          </a:p>
        </p:txBody>
      </p:sp>
      <p:sp>
        <p:nvSpPr>
          <p:cNvPr id="24" name="Shape 19"/>
          <p:cNvSpPr/>
          <p:nvPr/>
        </p:nvSpPr>
        <p:spPr>
          <a:xfrm>
            <a:off x="9040901" y="1508760"/>
            <a:ext cx="2602154" cy="2423160"/>
          </a:xfrm>
          <a:prstGeom prst="roundRect">
            <a:avLst>
              <a:gd name="adj" fmla="val 3019"/>
            </a:avLst>
          </a:prstGeom>
          <a:solidFill>
            <a:srgbClr val="F5F7FB"/>
          </a:solidFill>
          <a:ln w="9525">
            <a:solidFill>
              <a:srgbClr val="DCE1EB"/>
            </a:solidFill>
            <a:prstDash val="solid"/>
          </a:ln>
        </p:spPr>
      </p:sp>
      <p:pic>
        <p:nvPicPr>
          <p:cNvPr id="25" name="Image 3" descr="/home/user/LearnPython/ies-headroom/deck/assets/e_cert.png">    </p:cNvPr>
          <p:cNvPicPr>
            <a:picLocks noChangeAspect="1"/>
          </p:cNvPicPr>
          <p:nvPr/>
        </p:nvPicPr>
        <p:blipFill>
          <a:blip r:embed="rId4"/>
          <a:stretch>
            <a:fillRect/>
          </a:stretch>
        </p:blipFill>
        <p:spPr>
          <a:xfrm>
            <a:off x="9086621" y="1963225"/>
            <a:ext cx="2510714" cy="1514230"/>
          </a:xfrm>
          <a:prstGeom prst="rect">
            <a:avLst/>
          </a:prstGeom>
        </p:spPr>
      </p:pic>
      <p:sp>
        <p:nvSpPr>
          <p:cNvPr id="26" name="Shape 20"/>
          <p:cNvSpPr/>
          <p:nvPr/>
        </p:nvSpPr>
        <p:spPr>
          <a:xfrm>
            <a:off x="9040901" y="4114800"/>
            <a:ext cx="310896" cy="310896"/>
          </a:xfrm>
          <a:prstGeom prst="ellipse">
            <a:avLst/>
          </a:prstGeom>
          <a:solidFill>
            <a:srgbClr val="236CFF"/>
          </a:solidFill>
          <a:ln w="12700">
            <a:solidFill>
              <a:srgbClr val="236CFF"/>
            </a:solidFill>
            <a:prstDash val="solid"/>
          </a:ln>
        </p:spPr>
      </p:sp>
      <p:sp>
        <p:nvSpPr>
          <p:cNvPr id="27" name="Text 21"/>
          <p:cNvSpPr txBox="1"/>
          <p:nvPr/>
        </p:nvSpPr>
        <p:spPr>
          <a:xfrm>
            <a:off x="9040901" y="41148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Arial" pitchFamily="34" charset="-122"/>
                <a:cs typeface="Arial" pitchFamily="34" charset="-120"/>
              </a:rPr>
              <a:t>4</a:t>
            </a:r>
            <a:endParaRPr lang="en-US" sz="1100" dirty="0"/>
          </a:p>
        </p:txBody>
      </p:sp>
      <p:sp>
        <p:nvSpPr>
          <p:cNvPr id="28" name="Text 22"/>
          <p:cNvSpPr txBox="1"/>
          <p:nvPr/>
        </p:nvSpPr>
        <p:spPr>
          <a:xfrm>
            <a:off x="9452381" y="4133088"/>
            <a:ext cx="2190674" cy="274320"/>
          </a:xfrm>
          <a:prstGeom prst="rect">
            <a:avLst/>
          </a:prstGeom>
          <a:noFill/>
          <a:ln/>
        </p:spPr>
        <p:txBody>
          <a:bodyPr wrap="square" lIns="0" tIns="0" rIns="0" bIns="0" rtlCol="0" anchor="t"/>
          <a:lstStyle/>
          <a:p>
            <a:pPr indent="0" marL="0">
              <a:buNone/>
            </a:pPr>
            <a:r>
              <a:rPr lang="en-US" sz="1250" b="1" dirty="0">
                <a:solidFill>
                  <a:srgbClr val="0D1B3E"/>
                </a:solidFill>
                <a:latin typeface="Arial" pitchFamily="34" charset="0"/>
                <a:ea typeface="Arial" pitchFamily="34" charset="-122"/>
                <a:cs typeface="Arial" pitchFamily="34" charset="-120"/>
              </a:rPr>
              <a:t>Developer certification</a:t>
            </a:r>
            <a:endParaRPr lang="en-US" sz="1250" dirty="0"/>
          </a:p>
        </p:txBody>
      </p:sp>
      <p:sp>
        <p:nvSpPr>
          <p:cNvPr id="29" name="Text 23"/>
          <p:cNvSpPr txBox="1"/>
          <p:nvPr/>
        </p:nvSpPr>
        <p:spPr>
          <a:xfrm>
            <a:off x="9040901" y="4526280"/>
            <a:ext cx="2602154" cy="82296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Accuracy, citations, safety and a CPA panel. Autonomy drops automatically if accuracy falls.</a:t>
            </a:r>
            <a:endParaRPr lang="en-US" sz="1050" dirty="0"/>
          </a:p>
        </p:txBody>
      </p:sp>
      <p:sp>
        <p:nvSpPr>
          <p:cNvPr id="30" name="Shape 24"/>
          <p:cNvSpPr/>
          <p:nvPr/>
        </p:nvSpPr>
        <p:spPr>
          <a:xfrm>
            <a:off x="548640" y="5486400"/>
            <a:ext cx="11094415" cy="685800"/>
          </a:xfrm>
          <a:prstGeom prst="roundRect">
            <a:avLst>
              <a:gd name="adj" fmla="val 10667"/>
            </a:avLst>
          </a:prstGeom>
          <a:solidFill>
            <a:srgbClr val="EEF3FF"/>
          </a:solidFill>
          <a:ln w="9525">
            <a:solidFill>
              <a:srgbClr val="EEF3FF"/>
            </a:solidFill>
            <a:prstDash val="solid"/>
          </a:ln>
        </p:spPr>
      </p:sp>
      <p:sp>
        <p:nvSpPr>
          <p:cNvPr id="31" name="Text 25"/>
          <p:cNvSpPr txBox="1"/>
          <p:nvPr/>
        </p:nvSpPr>
        <p:spPr>
          <a:xfrm>
            <a:off x="749808" y="5559552"/>
            <a:ext cx="10692079" cy="548640"/>
          </a:xfrm>
          <a:prstGeom prst="rect">
            <a:avLst/>
          </a:prstGeom>
          <a:noFill/>
          <a:ln/>
        </p:spPr>
        <p:txBody>
          <a:bodyPr wrap="square" lIns="0" tIns="0" rIns="0" bIns="0" rtlCol="0" anchor="ctr"/>
          <a:lstStyle/>
          <a:p>
            <a:pPr indent="0" marL="0">
              <a:buNone/>
            </a:pPr>
            <a:r>
              <a:rPr lang="en-US" sz="1150" b="1" dirty="0">
                <a:solidFill>
                  <a:srgbClr val="0D1B3E"/>
                </a:solidFill>
                <a:latin typeface="Arial" pitchFamily="34" charset="0"/>
                <a:ea typeface="Arial" pitchFamily="34" charset="-122"/>
                <a:cs typeface="Arial" pitchFamily="34" charset="-120"/>
              </a:rPr>
              <a:t>Also in the prototype: </a:t>
            </a:r>
            <a:pPr indent="0" marL="0">
              <a:buNone/>
            </a:pPr>
            <a:r>
              <a:rPr lang="en-US" sz="1150" dirty="0">
                <a:solidFill>
                  <a:srgbClr val="1F2433"/>
                </a:solidFill>
                <a:latin typeface="Arial" pitchFamily="34" charset="0"/>
                <a:ea typeface="Arial" pitchFamily="34" charset="-122"/>
                <a:cs typeface="Arial" pitchFamily="34" charset="-120"/>
              </a:rPr>
              <a:t>an AI advisor that hands a loan-covenant question to a CPA, the expert's review queue, the developer demand board, a sandbox test run, and payouts.  </a:t>
            </a:r>
            <a:pPr indent="0" marL="0">
              <a:buNone/>
            </a:pPr>
            <a:r>
              <a:rPr lang="en-US" sz="1150" b="1" u="sng" dirty="0">
                <a:solidFill>
                  <a:srgbClr val="236CFF"/>
                </a:solidFill>
                <a:latin typeface="Arial" pitchFamily="34" charset="0"/>
                <a:ea typeface="Arial" pitchFamily="34" charset="-122"/>
                <a:cs typeface="Arial" pitchFamily="34" charset="-120"/>
                <a:hlinkClick r:id="rId5" invalidUrl="" action="" tgtFrame="" tooltip="" history="1" highlightClick="0" endSnd="0">
                  <a:extLst>
                    <a:ext uri="{A12FA001-AC4F-418D-AE19-62706E023703}">
                      <ahyp:hlinkClr xmlns:ahyp="http://schemas.microsoft.com/office/drawing/2018/hyperlinkcolor" val="tx"/>
                    </a:ext>
                  </a:extLst>
                </a:hlinkClick>
              </a:rPr>
              <a:t>Open the prototype</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How it makes money, and why it is hard to copy</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Radar is free because it protects IES revenue. The store and expert services earn on top.</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548640" y="1508760"/>
            <a:ext cx="6492240" cy="960120"/>
          </a:xfrm>
          <a:prstGeom prst="roundRect">
            <a:avLst>
              <a:gd name="adj" fmla="val 7619"/>
            </a:avLst>
          </a:prstGeom>
          <a:solidFill>
            <a:srgbClr val="EEF3FF"/>
          </a:solidFill>
          <a:ln w="9525">
            <a:solidFill>
              <a:srgbClr val="DCE1EB"/>
            </a:solidFill>
            <a:prstDash val="solid"/>
          </a:ln>
        </p:spPr>
      </p:sp>
      <p:sp>
        <p:nvSpPr>
          <p:cNvPr id="7" name="Text 5"/>
          <p:cNvSpPr txBox="1"/>
          <p:nvPr/>
        </p:nvSpPr>
        <p:spPr>
          <a:xfrm>
            <a:off x="749808" y="1618488"/>
            <a:ext cx="1280160" cy="457200"/>
          </a:xfrm>
          <a:prstGeom prst="rect">
            <a:avLst/>
          </a:prstGeom>
          <a:noFill/>
          <a:ln/>
        </p:spPr>
        <p:txBody>
          <a:bodyPr wrap="square" lIns="0" tIns="0" rIns="0" bIns="0" rtlCol="0" anchor="t"/>
          <a:lstStyle/>
          <a:p>
            <a:pPr indent="0" marL="0">
              <a:buNone/>
            </a:pPr>
            <a:r>
              <a:rPr lang="en-US" sz="2400" b="1" dirty="0">
                <a:solidFill>
                  <a:srgbClr val="236CFF"/>
                </a:solidFill>
                <a:latin typeface="Arial" pitchFamily="34" charset="0"/>
                <a:ea typeface="Arial" pitchFamily="34" charset="-122"/>
                <a:cs typeface="Arial" pitchFamily="34" charset="-120"/>
              </a:rPr>
              <a:t>$12M</a:t>
            </a:r>
            <a:endParaRPr lang="en-US" sz="2400" dirty="0"/>
          </a:p>
        </p:txBody>
      </p:sp>
      <p:sp>
        <p:nvSpPr>
          <p:cNvPr id="8" name="Text 6"/>
          <p:cNvSpPr txBox="1"/>
          <p:nvPr/>
        </p:nvSpPr>
        <p:spPr>
          <a:xfrm>
            <a:off x="749808" y="2075688"/>
            <a:ext cx="1371600" cy="274320"/>
          </a:xfrm>
          <a:prstGeom prst="rect">
            <a:avLst/>
          </a:prstGeom>
          <a:noFill/>
          <a:ln/>
        </p:spPr>
        <p:txBody>
          <a:bodyPr wrap="square" lIns="0" tIns="0" rIns="0" bIns="0" rtlCol="0" anchor="t"/>
          <a:lstStyle/>
          <a:p>
            <a:pPr indent="0" marL="0">
              <a:buNone/>
            </a:pPr>
            <a:r>
              <a:rPr lang="en-US" sz="950" dirty="0">
                <a:solidFill>
                  <a:srgbClr val="5A6275"/>
                </a:solidFill>
                <a:latin typeface="Arial" pitchFamily="34" charset="0"/>
                <a:ea typeface="Arial" pitchFamily="34" charset="-122"/>
                <a:cs typeface="Arial" pitchFamily="34" charset="-120"/>
              </a:rPr>
              <a:t>a year</a:t>
            </a:r>
            <a:endParaRPr lang="en-US" sz="950" dirty="0"/>
          </a:p>
        </p:txBody>
      </p:sp>
      <p:sp>
        <p:nvSpPr>
          <p:cNvPr id="9" name="Text 7"/>
          <p:cNvSpPr txBox="1"/>
          <p:nvPr/>
        </p:nvSpPr>
        <p:spPr>
          <a:xfrm>
            <a:off x="2240280" y="1627632"/>
            <a:ext cx="4572000"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Kept revenue</a:t>
            </a:r>
            <a:endParaRPr lang="en-US" sz="1300" dirty="0"/>
          </a:p>
        </p:txBody>
      </p:sp>
      <p:sp>
        <p:nvSpPr>
          <p:cNvPr id="10" name="Text 8"/>
          <p:cNvSpPr txBox="1"/>
          <p:nvPr/>
        </p:nvSpPr>
        <p:spPr>
          <a:xfrm>
            <a:off x="2240280" y="1920240"/>
            <a:ext cx="4617720" cy="50292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Churn among companies hitting a trigger falls from 20% to 12%. 6,000 companies x 8 pts x $25k.</a:t>
            </a:r>
            <a:endParaRPr lang="en-US" sz="1050" dirty="0"/>
          </a:p>
        </p:txBody>
      </p:sp>
      <p:sp>
        <p:nvSpPr>
          <p:cNvPr id="11" name="Shape 9"/>
          <p:cNvSpPr/>
          <p:nvPr/>
        </p:nvSpPr>
        <p:spPr>
          <a:xfrm>
            <a:off x="548640" y="2587752"/>
            <a:ext cx="6492240" cy="960120"/>
          </a:xfrm>
          <a:prstGeom prst="roundRect">
            <a:avLst>
              <a:gd name="adj" fmla="val 7619"/>
            </a:avLst>
          </a:prstGeom>
          <a:solidFill>
            <a:srgbClr val="FFFFFF"/>
          </a:solidFill>
          <a:ln w="9525">
            <a:solidFill>
              <a:srgbClr val="DCE1EB"/>
            </a:solidFill>
            <a:prstDash val="solid"/>
          </a:ln>
        </p:spPr>
      </p:sp>
      <p:sp>
        <p:nvSpPr>
          <p:cNvPr id="12" name="Text 10"/>
          <p:cNvSpPr txBox="1"/>
          <p:nvPr/>
        </p:nvSpPr>
        <p:spPr>
          <a:xfrm>
            <a:off x="749808" y="2697480"/>
            <a:ext cx="1280160" cy="457200"/>
          </a:xfrm>
          <a:prstGeom prst="rect">
            <a:avLst/>
          </a:prstGeom>
          <a:noFill/>
          <a:ln/>
        </p:spPr>
        <p:txBody>
          <a:bodyPr wrap="square" lIns="0" tIns="0" rIns="0" bIns="0" rtlCol="0" anchor="t"/>
          <a:lstStyle/>
          <a:p>
            <a:pPr indent="0" marL="0">
              <a:buNone/>
            </a:pPr>
            <a:r>
              <a:rPr lang="en-US" sz="2400" b="1" dirty="0">
                <a:solidFill>
                  <a:srgbClr val="236CFF"/>
                </a:solidFill>
                <a:latin typeface="Arial" pitchFamily="34" charset="0"/>
                <a:ea typeface="Arial" pitchFamily="34" charset="-122"/>
                <a:cs typeface="Arial" pitchFamily="34" charset="-120"/>
              </a:rPr>
              <a:t>$14M</a:t>
            </a:r>
            <a:endParaRPr lang="en-US" sz="2400" dirty="0"/>
          </a:p>
        </p:txBody>
      </p:sp>
      <p:sp>
        <p:nvSpPr>
          <p:cNvPr id="13" name="Text 11"/>
          <p:cNvSpPr txBox="1"/>
          <p:nvPr/>
        </p:nvSpPr>
        <p:spPr>
          <a:xfrm>
            <a:off x="749808" y="3154680"/>
            <a:ext cx="1371600" cy="274320"/>
          </a:xfrm>
          <a:prstGeom prst="rect">
            <a:avLst/>
          </a:prstGeom>
          <a:noFill/>
          <a:ln/>
        </p:spPr>
        <p:txBody>
          <a:bodyPr wrap="square" lIns="0" tIns="0" rIns="0" bIns="0" rtlCol="0" anchor="t"/>
          <a:lstStyle/>
          <a:p>
            <a:pPr indent="0" marL="0">
              <a:buNone/>
            </a:pPr>
            <a:r>
              <a:rPr lang="en-US" sz="950" dirty="0">
                <a:solidFill>
                  <a:srgbClr val="5A6275"/>
                </a:solidFill>
                <a:latin typeface="Arial" pitchFamily="34" charset="0"/>
                <a:ea typeface="Arial" pitchFamily="34" charset="-122"/>
                <a:cs typeface="Arial" pitchFamily="34" charset="-120"/>
              </a:rPr>
              <a:t>a year by year 3</a:t>
            </a:r>
            <a:endParaRPr lang="en-US" sz="950" dirty="0"/>
          </a:p>
        </p:txBody>
      </p:sp>
      <p:sp>
        <p:nvSpPr>
          <p:cNvPr id="14" name="Text 12"/>
          <p:cNvSpPr txBox="1"/>
          <p:nvPr/>
        </p:nvSpPr>
        <p:spPr>
          <a:xfrm>
            <a:off x="2240280" y="2706624"/>
            <a:ext cx="4572000"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Store revenue share</a:t>
            </a:r>
            <a:endParaRPr lang="en-US" sz="1300" dirty="0"/>
          </a:p>
        </p:txBody>
      </p:sp>
      <p:sp>
        <p:nvSpPr>
          <p:cNvPr id="15" name="Text 13"/>
          <p:cNvSpPr txBox="1"/>
          <p:nvPr/>
        </p:nvSpPr>
        <p:spPr>
          <a:xfrm>
            <a:off x="2240280" y="2999232"/>
            <a:ext cx="4617720" cy="50292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Intuit keeps 15% on a developer's first $1M a year, 20% after. About $81M of agent sales.</a:t>
            </a:r>
            <a:endParaRPr lang="en-US" sz="1050" dirty="0"/>
          </a:p>
        </p:txBody>
      </p:sp>
      <p:sp>
        <p:nvSpPr>
          <p:cNvPr id="16" name="Shape 14"/>
          <p:cNvSpPr/>
          <p:nvPr/>
        </p:nvSpPr>
        <p:spPr>
          <a:xfrm>
            <a:off x="548640" y="3666744"/>
            <a:ext cx="6492240" cy="960120"/>
          </a:xfrm>
          <a:prstGeom prst="roundRect">
            <a:avLst>
              <a:gd name="adj" fmla="val 7619"/>
            </a:avLst>
          </a:prstGeom>
          <a:solidFill>
            <a:srgbClr val="FFFFFF"/>
          </a:solidFill>
          <a:ln w="9525">
            <a:solidFill>
              <a:srgbClr val="DCE1EB"/>
            </a:solidFill>
            <a:prstDash val="solid"/>
          </a:ln>
        </p:spPr>
      </p:sp>
      <p:sp>
        <p:nvSpPr>
          <p:cNvPr id="17" name="Text 15"/>
          <p:cNvSpPr txBox="1"/>
          <p:nvPr/>
        </p:nvSpPr>
        <p:spPr>
          <a:xfrm>
            <a:off x="749808" y="3776472"/>
            <a:ext cx="1280160" cy="457200"/>
          </a:xfrm>
          <a:prstGeom prst="rect">
            <a:avLst/>
          </a:prstGeom>
          <a:noFill/>
          <a:ln/>
        </p:spPr>
        <p:txBody>
          <a:bodyPr wrap="square" lIns="0" tIns="0" rIns="0" bIns="0" rtlCol="0" anchor="t"/>
          <a:lstStyle/>
          <a:p>
            <a:pPr indent="0" marL="0">
              <a:buNone/>
            </a:pPr>
            <a:r>
              <a:rPr lang="en-US" sz="2400" b="1" dirty="0">
                <a:solidFill>
                  <a:srgbClr val="236CFF"/>
                </a:solidFill>
                <a:latin typeface="Arial" pitchFamily="34" charset="0"/>
                <a:ea typeface="Arial" pitchFamily="34" charset="-122"/>
                <a:cs typeface="Arial" pitchFamily="34" charset="-120"/>
              </a:rPr>
              <a:t>$6M</a:t>
            </a:r>
            <a:endParaRPr lang="en-US" sz="2400" dirty="0"/>
          </a:p>
        </p:txBody>
      </p:sp>
      <p:sp>
        <p:nvSpPr>
          <p:cNvPr id="18" name="Text 16"/>
          <p:cNvSpPr txBox="1"/>
          <p:nvPr/>
        </p:nvSpPr>
        <p:spPr>
          <a:xfrm>
            <a:off x="749808" y="4233672"/>
            <a:ext cx="1371600" cy="274320"/>
          </a:xfrm>
          <a:prstGeom prst="rect">
            <a:avLst/>
          </a:prstGeom>
          <a:noFill/>
          <a:ln/>
        </p:spPr>
        <p:txBody>
          <a:bodyPr wrap="square" lIns="0" tIns="0" rIns="0" bIns="0" rtlCol="0" anchor="t"/>
          <a:lstStyle/>
          <a:p>
            <a:pPr indent="0" marL="0">
              <a:buNone/>
            </a:pPr>
            <a:r>
              <a:rPr lang="en-US" sz="950" dirty="0">
                <a:solidFill>
                  <a:srgbClr val="5A6275"/>
                </a:solidFill>
                <a:latin typeface="Arial" pitchFamily="34" charset="0"/>
                <a:ea typeface="Arial" pitchFamily="34" charset="-122"/>
                <a:cs typeface="Arial" pitchFamily="34" charset="-120"/>
              </a:rPr>
              <a:t>margin by year 3</a:t>
            </a:r>
            <a:endParaRPr lang="en-US" sz="950" dirty="0"/>
          </a:p>
        </p:txBody>
      </p:sp>
      <p:sp>
        <p:nvSpPr>
          <p:cNvPr id="19" name="Text 17"/>
          <p:cNvSpPr txBox="1"/>
          <p:nvPr/>
        </p:nvSpPr>
        <p:spPr>
          <a:xfrm>
            <a:off x="2240280" y="3785616"/>
            <a:ext cx="4572000" cy="274320"/>
          </a:xfrm>
          <a:prstGeom prst="rect">
            <a:avLst/>
          </a:prstGeom>
          <a:noFill/>
          <a:ln/>
        </p:spPr>
        <p:txBody>
          <a:bodyPr wrap="square" lIns="0" tIns="0" rIns="0" bIns="0" rtlCol="0" anchor="t"/>
          <a:lstStyle/>
          <a:p>
            <a:pPr indent="0" marL="0">
              <a:buNone/>
            </a:pPr>
            <a:r>
              <a:rPr lang="en-US" sz="1300" b="1" dirty="0">
                <a:solidFill>
                  <a:srgbClr val="0D1B3E"/>
                </a:solidFill>
                <a:latin typeface="Arial" pitchFamily="34" charset="0"/>
                <a:ea typeface="Arial" pitchFamily="34" charset="-122"/>
                <a:cs typeface="Arial" pitchFamily="34" charset="-120"/>
              </a:rPr>
              <a:t>Expert services</a:t>
            </a:r>
            <a:endParaRPr lang="en-US" sz="1300" dirty="0"/>
          </a:p>
        </p:txBody>
      </p:sp>
      <p:sp>
        <p:nvSpPr>
          <p:cNvPr id="20" name="Text 18"/>
          <p:cNvSpPr txBox="1"/>
          <p:nvPr/>
        </p:nvSpPr>
        <p:spPr>
          <a:xfrm>
            <a:off x="2240280" y="4078224"/>
            <a:ext cx="4617720" cy="502920"/>
          </a:xfrm>
          <a:prstGeom prst="rect">
            <a:avLst/>
          </a:prstGeom>
          <a:noFill/>
          <a:ln/>
        </p:spPr>
        <p:txBody>
          <a:bodyPr wrap="square" lIns="0" tIns="0" rIns="0" bIns="0" rtlCol="0" anchor="t"/>
          <a:lstStyle/>
          <a:p>
            <a:pPr indent="0" marL="0">
              <a:buNone/>
            </a:pPr>
            <a:r>
              <a:rPr lang="en-US" sz="1050" dirty="0">
                <a:solidFill>
                  <a:srgbClr val="1F2433"/>
                </a:solidFill>
                <a:latin typeface="Arial" pitchFamily="34" charset="0"/>
                <a:ea typeface="Arial" pitchFamily="34" charset="-122"/>
                <a:cs typeface="Arial" pitchFamily="34" charset="-120"/>
              </a:rPr>
              <a:t>Reviews and set-up beyond the included hours, at $190 an hour with a 40% margin.</a:t>
            </a:r>
            <a:endParaRPr lang="en-US" sz="1050" dirty="0"/>
          </a:p>
        </p:txBody>
      </p:sp>
      <p:sp>
        <p:nvSpPr>
          <p:cNvPr id="21" name="Text 19"/>
          <p:cNvSpPr txBox="1"/>
          <p:nvPr/>
        </p:nvSpPr>
        <p:spPr>
          <a:xfrm>
            <a:off x="548640" y="4800600"/>
            <a:ext cx="6492240" cy="411480"/>
          </a:xfrm>
          <a:prstGeom prst="rect">
            <a:avLst/>
          </a:prstGeom>
          <a:noFill/>
          <a:ln/>
        </p:spPr>
        <p:txBody>
          <a:bodyPr wrap="square" lIns="0" tIns="0" rIns="0" bIns="0" rtlCol="0" anchor="t"/>
          <a:lstStyle/>
          <a:p>
            <a:pPr indent="0" marL="0">
              <a:buNone/>
            </a:pPr>
            <a:r>
              <a:rPr lang="en-US" sz="950" dirty="0">
                <a:solidFill>
                  <a:srgbClr val="8A91A3"/>
                </a:solidFill>
                <a:latin typeface="Arial" pitchFamily="34" charset="0"/>
                <a:ea typeface="Arial" pitchFamily="34" charset="-122"/>
                <a:cs typeface="Arial" pitchFamily="34" charset="-120"/>
              </a:rPr>
              <a:t>All figures are estimates from the assumptions on slide 10 and the research page. API calls stay free to build, with metered pricing only above 1M calls a month.</a:t>
            </a:r>
            <a:endParaRPr lang="en-US" sz="950" dirty="0"/>
          </a:p>
        </p:txBody>
      </p:sp>
      <p:sp>
        <p:nvSpPr>
          <p:cNvPr id="22" name="Shape 20"/>
          <p:cNvSpPr/>
          <p:nvPr/>
        </p:nvSpPr>
        <p:spPr>
          <a:xfrm>
            <a:off x="548640" y="5303520"/>
            <a:ext cx="6492240" cy="1005840"/>
          </a:xfrm>
          <a:prstGeom prst="roundRect">
            <a:avLst>
              <a:gd name="adj" fmla="val 7273"/>
            </a:avLst>
          </a:prstGeom>
          <a:solidFill>
            <a:srgbClr val="E6F4EC"/>
          </a:solidFill>
          <a:ln w="9525">
            <a:solidFill>
              <a:srgbClr val="E6F4EC"/>
            </a:solidFill>
            <a:prstDash val="solid"/>
          </a:ln>
        </p:spPr>
      </p:sp>
      <p:sp>
        <p:nvSpPr>
          <p:cNvPr id="23" name="Text 21"/>
          <p:cNvSpPr txBox="1"/>
          <p:nvPr/>
        </p:nvSpPr>
        <p:spPr>
          <a:xfrm>
            <a:off x="749808" y="5413248"/>
            <a:ext cx="6035040" cy="228600"/>
          </a:xfrm>
          <a:prstGeom prst="rect">
            <a:avLst/>
          </a:prstGeom>
          <a:noFill/>
          <a:ln/>
        </p:spPr>
        <p:txBody>
          <a:bodyPr wrap="square" lIns="0" tIns="0" rIns="0" bIns="0" rtlCol="0" anchor="t"/>
          <a:lstStyle/>
          <a:p>
            <a:pPr indent="0" marL="0">
              <a:buNone/>
            </a:pPr>
            <a:r>
              <a:rPr lang="en-US" sz="950" b="1" spc="150" kern="0" dirty="0">
                <a:solidFill>
                  <a:srgbClr val="108043"/>
                </a:solidFill>
                <a:latin typeface="Arial" pitchFamily="34" charset="0"/>
                <a:ea typeface="Arial" pitchFamily="34" charset="-122"/>
                <a:cs typeface="Arial" pitchFamily="34" charset="-120"/>
              </a:rPr>
              <a:t>IS INTUIT'S EXPERT NETWORK THE MOAT? YES.</a:t>
            </a:r>
            <a:endParaRPr lang="en-US" sz="950" dirty="0"/>
          </a:p>
        </p:txBody>
      </p:sp>
      <p:sp>
        <p:nvSpPr>
          <p:cNvPr id="24" name="Text 22"/>
          <p:cNvSpPr txBox="1"/>
          <p:nvPr/>
        </p:nvSpPr>
        <p:spPr>
          <a:xfrm>
            <a:off x="749808" y="5669280"/>
            <a:ext cx="6089904" cy="594360"/>
          </a:xfrm>
          <a:prstGeom prst="rect">
            <a:avLst/>
          </a:prstGeom>
          <a:noFill/>
          <a:ln/>
        </p:spPr>
        <p:txBody>
          <a:bodyPr wrap="square" lIns="0" tIns="0" rIns="0" bIns="0" rtlCol="0" anchor="t"/>
          <a:lstStyle/>
          <a:p>
            <a:pPr indent="0" marL="0">
              <a:buNone/>
            </a:pPr>
            <a:r>
              <a:rPr lang="en-US" sz="1100" dirty="0">
                <a:solidFill>
                  <a:srgbClr val="0D1B3E"/>
                </a:solidFill>
                <a:latin typeface="Arial" pitchFamily="34" charset="0"/>
                <a:ea typeface="Arial" pitchFamily="34" charset="-122"/>
                <a:cs typeface="Arial" pitchFamily="34" charset="-120"/>
              </a:rPr>
              <a:t>Agents can be copied. Thousands of CPAs already inside customers' books cannot. Every expert correction becomes a test case, so agents on IES get more accurate with each review.</a:t>
            </a:r>
            <a:endParaRPr lang="en-US" sz="1100" dirty="0"/>
          </a:p>
        </p:txBody>
      </p:sp>
      <p:sp>
        <p:nvSpPr>
          <p:cNvPr id="25" name="Text 23"/>
          <p:cNvSpPr txBox="1"/>
          <p:nvPr/>
        </p:nvSpPr>
        <p:spPr>
          <a:xfrm>
            <a:off x="7315200" y="1508760"/>
            <a:ext cx="4327855"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AGAINST THE COMPETITION</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7315200" y="1783080"/>
          <a:ext cx="4327855" cy="914400"/>
        </p:xfrm>
        <a:graphic>
          <a:graphicData uri="http://schemas.openxmlformats.org/drawingml/2006/table">
            <a:tbl>
              <a:tblPr/>
              <a:tblGrid>
                <a:gridCol w="1051560"/>
                <a:gridCol w="1783080"/>
                <a:gridCol w="1490472"/>
              </a:tblGrid>
              <a:tr h="310896">
                <a:tc>
                  <a:txBody>
                    <a:bodyPr/>
                    <a:lstStyle/>
                    <a:p>
                      <a:pPr indent="0" marL="0">
                        <a:buNone/>
                      </a:pPr>
                      <a:endParaRPr lang="en-US" sz="8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850" b="1" dirty="0">
                          <a:solidFill>
                            <a:srgbClr val="5A6275"/>
                          </a:solidFill>
                          <a:latin typeface="Arial" pitchFamily="34" charset="0"/>
                          <a:ea typeface="Arial" pitchFamily="34" charset="-122"/>
                          <a:cs typeface="Arial" pitchFamily="34" charset="-120"/>
                        </a:rPr>
                        <a:t>Today</a:t>
                      </a:r>
                      <a:endParaRPr lang="en-US" sz="8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850" b="1" dirty="0">
                          <a:solidFill>
                            <a:srgbClr val="5A6275"/>
                          </a:solidFill>
                          <a:latin typeface="Arial" pitchFamily="34" charset="0"/>
                          <a:ea typeface="Arial" pitchFamily="34" charset="-122"/>
                          <a:cs typeface="Arial" pitchFamily="34" charset="-120"/>
                        </a:rPr>
                        <a:t>Headroom's edge</a:t>
                      </a:r>
                      <a:endParaRPr lang="en-US" sz="8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713232">
                <a:tc>
                  <a:txBody>
                    <a:bodyPr/>
                    <a:lstStyle/>
                    <a:p>
                      <a:pPr indent="0" marL="0">
                        <a:buNone/>
                      </a:pPr>
                      <a:r>
                        <a:rPr lang="en-US" sz="1000" b="1" dirty="0">
                          <a:solidFill>
                            <a:srgbClr val="0D1B3E"/>
                          </a:solidFill>
                          <a:latin typeface="Arial" pitchFamily="34" charset="0"/>
                          <a:ea typeface="Arial" pitchFamily="34" charset="-122"/>
                          <a:cs typeface="Arial" pitchFamily="34" charset="-120"/>
                        </a:rPr>
                        <a:t>NetSuite</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AI marketplace launched 2025. Long partner-led rollouts.</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Acts before the customer starts shopping</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713232">
                <a:tc>
                  <a:txBody>
                    <a:bodyPr/>
                    <a:lstStyle/>
                    <a:p>
                      <a:pPr indent="0" marL="0">
                        <a:buNone/>
                      </a:pPr>
                      <a:r>
                        <a:rPr lang="en-US" sz="1000" b="1" dirty="0">
                          <a:solidFill>
                            <a:srgbClr val="0D1B3E"/>
                          </a:solidFill>
                          <a:latin typeface="Arial" pitchFamily="34" charset="0"/>
                          <a:ea typeface="Arial" pitchFamily="34" charset="-122"/>
                          <a:cs typeface="Arial" pitchFamily="34" charset="-120"/>
                        </a:rPr>
                        <a:t>SAP ByDesign</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Full ERP, heavy for under $100M.</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Set up in days, inside a tool they know</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713232">
                <a:tc>
                  <a:txBody>
                    <a:bodyPr/>
                    <a:lstStyle/>
                    <a:p>
                      <a:pPr indent="0" marL="0">
                        <a:buNone/>
                      </a:pPr>
                      <a:r>
                        <a:rPr lang="en-US" sz="1000" b="1" dirty="0">
                          <a:solidFill>
                            <a:srgbClr val="0D1B3E"/>
                          </a:solidFill>
                          <a:latin typeface="Arial" pitchFamily="34" charset="0"/>
                          <a:ea typeface="Arial" pitchFamily="34" charset="-122"/>
                          <a:cs typeface="Arial" pitchFamily="34" charset="-120"/>
                        </a:rPr>
                        <a:t>Workday</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Strong for large firms. High cost.</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Priced for the mid-market</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713232">
                <a:tc>
                  <a:txBody>
                    <a:bodyPr/>
                    <a:lstStyle/>
                    <a:p>
                      <a:pPr indent="0" marL="0">
                        <a:buNone/>
                      </a:pPr>
                      <a:r>
                        <a:rPr lang="en-US" sz="1000" b="1" dirty="0">
                          <a:solidFill>
                            <a:srgbClr val="0D1B3E"/>
                          </a:solidFill>
                          <a:latin typeface="Arial" pitchFamily="34" charset="0"/>
                          <a:ea typeface="Arial" pitchFamily="34" charset="-122"/>
                          <a:cs typeface="Arial" pitchFamily="34" charset="-120"/>
                        </a:rPr>
                        <a:t>AI-native ledgers</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Fast close. Thin ecosystem, no experts.</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Verified partners plus human CPAs</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How we will know it works</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Each metric has an exact definition and three bands. Green means scale up, amber means investigate, red means stop and fix.</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645920"/>
                <a:gridCol w="5605272"/>
                <a:gridCol w="1097280"/>
                <a:gridCol w="1188720"/>
                <a:gridCol w="1554480"/>
              </a:tblGrid>
              <a:tr h="310896">
                <a:tc>
                  <a:txBody>
                    <a:bodyPr/>
                    <a:lstStyle/>
                    <a:p>
                      <a:pPr indent="0" marL="0">
                        <a:buNone/>
                      </a:pPr>
                      <a:r>
                        <a:rPr lang="en-US" sz="900" b="1" dirty="0">
                          <a:solidFill>
                            <a:srgbClr val="5A6275"/>
                          </a:solidFill>
                          <a:latin typeface="Arial" pitchFamily="34" charset="0"/>
                          <a:ea typeface="Arial" pitchFamily="34" charset="-122"/>
                          <a:cs typeface="Arial" pitchFamily="34" charset="-120"/>
                        </a:rPr>
                        <a:t>Question</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Metric and exact definition</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Green</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Amber</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Red</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North Star</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Triggered-company retention: share of IES companies with an urgent Radar signal that are still paying 12 months later</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92%+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85 to 92%</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85%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Do they act?</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Signal resolution: share of urgent signals fixed (setting on or agent installed) within 30 days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50%+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30 to 50%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30%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Is it faster?</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Median business days to close for companies running 2+ agents, over the last 3 closes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4 or less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5 to 6</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Over 6</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Do they trust it?</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Approval rate: share of agent entries approved without edits, per agent, rolling 30 days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95%+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90 to 95%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90%, back to L1</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Are experts fast?</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Median time from escalation to expert answer, business hours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2h or less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2 to 6h</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Over 6h</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Do developers ship?</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Share of new developers who pass certification within 90 days of sign-up</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25%+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10 to 25%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10%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Do agents sell?</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Paying companies per verified agent in its first 90 days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40+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15 to 40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15</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475488">
                <a:tc>
                  <a:txBody>
                    <a:bodyPr/>
                    <a:lstStyle/>
                    <a:p>
                      <a:pPr indent="0" marL="0">
                        <a:buNone/>
                      </a:pPr>
                      <a:r>
                        <a:rPr lang="en-US" sz="1050" b="1" dirty="0">
                          <a:solidFill>
                            <a:srgbClr val="1650C7"/>
                          </a:solidFill>
                          <a:latin typeface="Arial" pitchFamily="34" charset="0"/>
                          <a:ea typeface="Arial" pitchFamily="34" charset="-122"/>
                          <a:cs typeface="Arial" pitchFamily="34" charset="-120"/>
                        </a:rPr>
                        <a:t>Is the loop closing?</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Share of new agent installs that started from a Radar signal</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108043"/>
                          </a:solidFill>
                          <a:latin typeface="Arial" pitchFamily="34" charset="0"/>
                          <a:ea typeface="Arial" pitchFamily="34" charset="-122"/>
                          <a:cs typeface="Arial" pitchFamily="34" charset="-120"/>
                        </a:rPr>
                        <a:t>40%+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B25E00"/>
                          </a:solidFill>
                          <a:latin typeface="Arial" pitchFamily="34" charset="0"/>
                          <a:ea typeface="Arial" pitchFamily="34" charset="-122"/>
                          <a:cs typeface="Arial" pitchFamily="34" charset="-120"/>
                        </a:rPr>
                        <a:t>20 to 40%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b="1" dirty="0">
                          <a:solidFill>
                            <a:srgbClr val="C62828"/>
                          </a:solidFill>
                          <a:latin typeface="Arial" pitchFamily="34" charset="0"/>
                          <a:ea typeface="Arial" pitchFamily="34" charset="-122"/>
                          <a:cs typeface="Arial" pitchFamily="34" charset="-120"/>
                        </a:rPr>
                        <a:t>Under 20%</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Roadmap: prove it keeps customers, then open it up</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Each phase has a gate. We move on only when the success criteria are met.</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9</a:t>
            </a:r>
            <a:endParaRPr lang="en-US" sz="900" dirty="0"/>
          </a:p>
        </p:txBody>
      </p:sp>
      <p:sp>
        <p:nvSpPr>
          <p:cNvPr id="6" name="Shape 4"/>
          <p:cNvSpPr/>
          <p:nvPr/>
        </p:nvSpPr>
        <p:spPr>
          <a:xfrm>
            <a:off x="548640" y="1508760"/>
            <a:ext cx="3545738" cy="2697480"/>
          </a:xfrm>
          <a:prstGeom prst="roundRect">
            <a:avLst>
              <a:gd name="adj" fmla="val 2712"/>
            </a:avLst>
          </a:prstGeom>
          <a:solidFill>
            <a:srgbClr val="EEF3FF"/>
          </a:solidFill>
          <a:ln w="9525">
            <a:solidFill>
              <a:srgbClr val="EEF3FF"/>
            </a:solidFill>
            <a:prstDash val="solid"/>
          </a:ln>
        </p:spPr>
      </p:sp>
      <p:sp>
        <p:nvSpPr>
          <p:cNvPr id="7" name="Text 5"/>
          <p:cNvSpPr txBox="1"/>
          <p:nvPr/>
        </p:nvSpPr>
        <p:spPr>
          <a:xfrm>
            <a:off x="749808" y="1645920"/>
            <a:ext cx="3179978"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NOW TO 6 MONTHS</a:t>
            </a:r>
            <a:endParaRPr lang="en-US" sz="950" dirty="0"/>
          </a:p>
        </p:txBody>
      </p:sp>
      <p:sp>
        <p:nvSpPr>
          <p:cNvPr id="8" name="Text 6"/>
          <p:cNvSpPr txBox="1"/>
          <p:nvPr/>
        </p:nvSpPr>
        <p:spPr>
          <a:xfrm>
            <a:off x="749808" y="1901952"/>
            <a:ext cx="3179978" cy="320040"/>
          </a:xfrm>
          <a:prstGeom prst="rect">
            <a:avLst/>
          </a:prstGeom>
          <a:noFill/>
          <a:ln/>
        </p:spPr>
        <p:txBody>
          <a:bodyPr wrap="square" lIns="0" tIns="0" rIns="0" bIns="0" rtlCol="0" anchor="t"/>
          <a:lstStyle/>
          <a:p>
            <a:pPr indent="0" marL="0">
              <a:buNone/>
            </a:pPr>
            <a:r>
              <a:rPr lang="en-US" sz="1400" b="1" dirty="0">
                <a:solidFill>
                  <a:srgbClr val="0D1B3E"/>
                </a:solidFill>
                <a:latin typeface="Arial" pitchFamily="34" charset="0"/>
                <a:ea typeface="Arial" pitchFamily="34" charset="-122"/>
                <a:cs typeface="Arial" pitchFamily="34" charset="-120"/>
              </a:rPr>
              <a:t>Prove Radar keeps customers</a:t>
            </a:r>
            <a:endParaRPr lang="en-US" sz="1400" dirty="0"/>
          </a:p>
        </p:txBody>
      </p:sp>
      <p:sp>
        <p:nvSpPr>
          <p:cNvPr id="9" name="Text 7"/>
          <p:cNvSpPr txBox="1"/>
          <p:nvPr/>
        </p:nvSpPr>
        <p:spPr>
          <a:xfrm>
            <a:off x="749808" y="2267712"/>
            <a:ext cx="3179978"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Radar with 10 triggers</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Fixes use IES settings and Intuit agents only</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Expert review for Intuit agents</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Pilot with 300 IES companies</a:t>
            </a:r>
            <a:endParaRPr lang="en-US" sz="1050" dirty="0"/>
          </a:p>
        </p:txBody>
      </p:sp>
      <p:sp>
        <p:nvSpPr>
          <p:cNvPr id="10" name="Shape 8"/>
          <p:cNvSpPr/>
          <p:nvPr/>
        </p:nvSpPr>
        <p:spPr>
          <a:xfrm>
            <a:off x="685800" y="3401568"/>
            <a:ext cx="3271418" cy="713232"/>
          </a:xfrm>
          <a:prstGeom prst="roundRect">
            <a:avLst>
              <a:gd name="adj" fmla="val 10256"/>
            </a:avLst>
          </a:prstGeom>
          <a:solidFill>
            <a:srgbClr val="FFFFFF"/>
          </a:solidFill>
          <a:ln w="9525">
            <a:solidFill>
              <a:srgbClr val="DCE1EB"/>
            </a:solidFill>
            <a:prstDash val="solid"/>
          </a:ln>
        </p:spPr>
      </p:sp>
      <p:sp>
        <p:nvSpPr>
          <p:cNvPr id="11" name="Text 9"/>
          <p:cNvSpPr txBox="1"/>
          <p:nvPr/>
        </p:nvSpPr>
        <p:spPr>
          <a:xfrm>
            <a:off x="804672" y="3465576"/>
            <a:ext cx="3033674" cy="603504"/>
          </a:xfrm>
          <a:prstGeom prst="rect">
            <a:avLst/>
          </a:prstGeom>
          <a:noFill/>
          <a:ln/>
        </p:spPr>
        <p:txBody>
          <a:bodyPr wrap="square" lIns="0" tIns="0" rIns="0" bIns="0" rtlCol="0" anchor="t"/>
          <a:lstStyle/>
          <a:p>
            <a:pPr indent="0" marL="0">
              <a:buNone/>
            </a:pPr>
            <a:r>
              <a:rPr lang="en-US" sz="1000" b="1" dirty="0">
                <a:solidFill>
                  <a:srgbClr val="108043"/>
                </a:solidFill>
                <a:latin typeface="Arial" pitchFamily="34" charset="0"/>
                <a:ea typeface="Arial" pitchFamily="34" charset="-122"/>
                <a:cs typeface="Arial" pitchFamily="34" charset="-120"/>
              </a:rPr>
              <a:t>Gate: </a:t>
            </a:r>
            <a:pPr indent="0" marL="0">
              <a:buNone/>
            </a:pPr>
            <a:r>
              <a:rPr lang="en-US" sz="1000" dirty="0">
                <a:solidFill>
                  <a:srgbClr val="1F2433"/>
                </a:solidFill>
                <a:latin typeface="Arial" pitchFamily="34" charset="0"/>
                <a:ea typeface="Arial" pitchFamily="34" charset="-122"/>
                <a:cs typeface="Arial" pitchFamily="34" charset="-120"/>
              </a:rPr>
              <a:t>40%+ of urgent signals fixed in 30 days. Churn 25% lower than a matched control group.</a:t>
            </a:r>
            <a:endParaRPr lang="en-US" sz="1000" dirty="0"/>
          </a:p>
        </p:txBody>
      </p:sp>
      <p:sp>
        <p:nvSpPr>
          <p:cNvPr id="12" name="Shape 10"/>
          <p:cNvSpPr/>
          <p:nvPr/>
        </p:nvSpPr>
        <p:spPr>
          <a:xfrm>
            <a:off x="4322978" y="1508760"/>
            <a:ext cx="3545738" cy="2697480"/>
          </a:xfrm>
          <a:prstGeom prst="roundRect">
            <a:avLst>
              <a:gd name="adj" fmla="val 2712"/>
            </a:avLst>
          </a:prstGeom>
          <a:solidFill>
            <a:srgbClr val="F5F7FB"/>
          </a:solidFill>
          <a:ln w="9525">
            <a:solidFill>
              <a:srgbClr val="F5F7FB"/>
            </a:solidFill>
            <a:prstDash val="solid"/>
          </a:ln>
        </p:spPr>
      </p:sp>
      <p:sp>
        <p:nvSpPr>
          <p:cNvPr id="13" name="Text 11"/>
          <p:cNvSpPr txBox="1"/>
          <p:nvPr/>
        </p:nvSpPr>
        <p:spPr>
          <a:xfrm>
            <a:off x="4524146" y="1645920"/>
            <a:ext cx="3179978"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6 TO 18 MONTHS</a:t>
            </a:r>
            <a:endParaRPr lang="en-US" sz="950" dirty="0"/>
          </a:p>
        </p:txBody>
      </p:sp>
      <p:sp>
        <p:nvSpPr>
          <p:cNvPr id="14" name="Text 12"/>
          <p:cNvSpPr txBox="1"/>
          <p:nvPr/>
        </p:nvSpPr>
        <p:spPr>
          <a:xfrm>
            <a:off x="4524146" y="1901952"/>
            <a:ext cx="3179978" cy="320040"/>
          </a:xfrm>
          <a:prstGeom prst="rect">
            <a:avLst/>
          </a:prstGeom>
          <a:noFill/>
          <a:ln/>
        </p:spPr>
        <p:txBody>
          <a:bodyPr wrap="square" lIns="0" tIns="0" rIns="0" bIns="0" rtlCol="0" anchor="t"/>
          <a:lstStyle/>
          <a:p>
            <a:pPr indent="0" marL="0">
              <a:buNone/>
            </a:pPr>
            <a:r>
              <a:rPr lang="en-US" sz="1400" b="1" dirty="0">
                <a:solidFill>
                  <a:srgbClr val="0D1B3E"/>
                </a:solidFill>
                <a:latin typeface="Arial" pitchFamily="34" charset="0"/>
                <a:ea typeface="Arial" pitchFamily="34" charset="-122"/>
                <a:cs typeface="Arial" pitchFamily="34" charset="-120"/>
              </a:rPr>
              <a:t>Open the verified store</a:t>
            </a:r>
            <a:endParaRPr lang="en-US" sz="1400" dirty="0"/>
          </a:p>
        </p:txBody>
      </p:sp>
      <p:sp>
        <p:nvSpPr>
          <p:cNvPr id="15" name="Text 13"/>
          <p:cNvSpPr txBox="1"/>
          <p:nvPr/>
        </p:nvSpPr>
        <p:spPr>
          <a:xfrm>
            <a:off x="4524146" y="2267712"/>
            <a:ext cx="3179978"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Verified levels L1 and L2</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Agent Studio, sandbox and demand board</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25 launch partners picked from top demand</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15% revenue share, billed by Intuit</a:t>
            </a:r>
            <a:endParaRPr lang="en-US" sz="1050" dirty="0"/>
          </a:p>
        </p:txBody>
      </p:sp>
      <p:sp>
        <p:nvSpPr>
          <p:cNvPr id="16" name="Shape 14"/>
          <p:cNvSpPr/>
          <p:nvPr/>
        </p:nvSpPr>
        <p:spPr>
          <a:xfrm>
            <a:off x="4460138" y="3401568"/>
            <a:ext cx="3271418" cy="713232"/>
          </a:xfrm>
          <a:prstGeom prst="roundRect">
            <a:avLst>
              <a:gd name="adj" fmla="val 10256"/>
            </a:avLst>
          </a:prstGeom>
          <a:solidFill>
            <a:srgbClr val="FFFFFF"/>
          </a:solidFill>
          <a:ln w="9525">
            <a:solidFill>
              <a:srgbClr val="DCE1EB"/>
            </a:solidFill>
            <a:prstDash val="solid"/>
          </a:ln>
        </p:spPr>
      </p:sp>
      <p:sp>
        <p:nvSpPr>
          <p:cNvPr id="17" name="Text 15"/>
          <p:cNvSpPr txBox="1"/>
          <p:nvPr/>
        </p:nvSpPr>
        <p:spPr>
          <a:xfrm>
            <a:off x="4579010" y="3465576"/>
            <a:ext cx="3033674" cy="603504"/>
          </a:xfrm>
          <a:prstGeom prst="rect">
            <a:avLst/>
          </a:prstGeom>
          <a:noFill/>
          <a:ln/>
        </p:spPr>
        <p:txBody>
          <a:bodyPr wrap="square" lIns="0" tIns="0" rIns="0" bIns="0" rtlCol="0" anchor="t"/>
          <a:lstStyle/>
          <a:p>
            <a:pPr indent="0" marL="0">
              <a:buNone/>
            </a:pPr>
            <a:r>
              <a:rPr lang="en-US" sz="1000" b="1" dirty="0">
                <a:solidFill>
                  <a:srgbClr val="108043"/>
                </a:solidFill>
                <a:latin typeface="Arial" pitchFamily="34" charset="0"/>
                <a:ea typeface="Arial" pitchFamily="34" charset="-122"/>
                <a:cs typeface="Arial" pitchFamily="34" charset="-120"/>
              </a:rPr>
              <a:t>Gate: </a:t>
            </a:r>
            <a:pPr indent="0" marL="0">
              <a:buNone/>
            </a:pPr>
            <a:r>
              <a:rPr lang="en-US" sz="1000" dirty="0">
                <a:solidFill>
                  <a:srgbClr val="1F2433"/>
                </a:solidFill>
                <a:latin typeface="Arial" pitchFamily="34" charset="0"/>
                <a:ea typeface="Arial" pitchFamily="34" charset="-122"/>
                <a:cs typeface="Arial" pitchFamily="34" charset="-120"/>
              </a:rPr>
              <a:t>60 verified agents. 95%+ approval rate. 20%+ of Radar fixes come from partners.</a:t>
            </a:r>
            <a:endParaRPr lang="en-US" sz="1000" dirty="0"/>
          </a:p>
        </p:txBody>
      </p:sp>
      <p:sp>
        <p:nvSpPr>
          <p:cNvPr id="18" name="Shape 16"/>
          <p:cNvSpPr/>
          <p:nvPr/>
        </p:nvSpPr>
        <p:spPr>
          <a:xfrm>
            <a:off x="8097317" y="1508760"/>
            <a:ext cx="3545738" cy="2697480"/>
          </a:xfrm>
          <a:prstGeom prst="roundRect">
            <a:avLst>
              <a:gd name="adj" fmla="val 2712"/>
            </a:avLst>
          </a:prstGeom>
          <a:solidFill>
            <a:srgbClr val="F5F7FB"/>
          </a:solidFill>
          <a:ln w="9525">
            <a:solidFill>
              <a:srgbClr val="F5F7FB"/>
            </a:solidFill>
            <a:prstDash val="solid"/>
          </a:ln>
        </p:spPr>
      </p:sp>
      <p:sp>
        <p:nvSpPr>
          <p:cNvPr id="19" name="Text 17"/>
          <p:cNvSpPr txBox="1"/>
          <p:nvPr/>
        </p:nvSpPr>
        <p:spPr>
          <a:xfrm>
            <a:off x="8298485" y="1645920"/>
            <a:ext cx="3179978"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18 TO 36 MONTHS</a:t>
            </a:r>
            <a:endParaRPr lang="en-US" sz="950" dirty="0"/>
          </a:p>
        </p:txBody>
      </p:sp>
      <p:sp>
        <p:nvSpPr>
          <p:cNvPr id="20" name="Text 18"/>
          <p:cNvSpPr txBox="1"/>
          <p:nvPr/>
        </p:nvSpPr>
        <p:spPr>
          <a:xfrm>
            <a:off x="8298485" y="1901952"/>
            <a:ext cx="3179978" cy="320040"/>
          </a:xfrm>
          <a:prstGeom prst="rect">
            <a:avLst/>
          </a:prstGeom>
          <a:noFill/>
          <a:ln/>
        </p:spPr>
        <p:txBody>
          <a:bodyPr wrap="square" lIns="0" tIns="0" rIns="0" bIns="0" rtlCol="0" anchor="t"/>
          <a:lstStyle/>
          <a:p>
            <a:pPr indent="0" marL="0">
              <a:buNone/>
            </a:pPr>
            <a:r>
              <a:rPr lang="en-US" sz="1400" b="1" dirty="0">
                <a:solidFill>
                  <a:srgbClr val="0D1B3E"/>
                </a:solidFill>
                <a:latin typeface="Arial" pitchFamily="34" charset="0"/>
                <a:ea typeface="Arial" pitchFamily="34" charset="-122"/>
                <a:cs typeface="Arial" pitchFamily="34" charset="-120"/>
              </a:rPr>
              <a:t>Scale the ecosystem</a:t>
            </a:r>
            <a:endParaRPr lang="en-US" sz="1400" dirty="0"/>
          </a:p>
        </p:txBody>
      </p:sp>
      <p:sp>
        <p:nvSpPr>
          <p:cNvPr id="21" name="Text 19"/>
          <p:cNvSpPr txBox="1"/>
          <p:nvPr/>
        </p:nvSpPr>
        <p:spPr>
          <a:xfrm>
            <a:off x="8298485" y="2267712"/>
            <a:ext cx="3179978" cy="1097280"/>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L3 autonomy for proven agents</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Experts from accounting firms join the network</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UK, Canada and Australia</a:t>
            </a:r>
            <a:endParaRPr lang="en-US" sz="1050" dirty="0"/>
          </a:p>
          <a:p>
            <a:pPr marL="152400" indent="-152400">
              <a:spcAft>
                <a:spcPts val="300"/>
              </a:spcAft>
              <a:buSzPct val="100000"/>
              <a:buChar char="•"/>
            </a:pPr>
            <a:r>
              <a:rPr lang="en-US" sz="1050" dirty="0">
                <a:solidFill>
                  <a:srgbClr val="1F2433"/>
                </a:solidFill>
                <a:latin typeface="Arial" pitchFamily="34" charset="0"/>
                <a:ea typeface="Arial" pitchFamily="34" charset="-122"/>
                <a:cs typeface="Arial" pitchFamily="34" charset="-120"/>
              </a:rPr>
              <a:t>Industry packs and metered API</a:t>
            </a:r>
            <a:endParaRPr lang="en-US" sz="1050" dirty="0"/>
          </a:p>
        </p:txBody>
      </p:sp>
      <p:sp>
        <p:nvSpPr>
          <p:cNvPr id="22" name="Shape 20"/>
          <p:cNvSpPr/>
          <p:nvPr/>
        </p:nvSpPr>
        <p:spPr>
          <a:xfrm>
            <a:off x="8234477" y="3401568"/>
            <a:ext cx="3271418" cy="713232"/>
          </a:xfrm>
          <a:prstGeom prst="roundRect">
            <a:avLst>
              <a:gd name="adj" fmla="val 10256"/>
            </a:avLst>
          </a:prstGeom>
          <a:solidFill>
            <a:srgbClr val="FFFFFF"/>
          </a:solidFill>
          <a:ln w="9525">
            <a:solidFill>
              <a:srgbClr val="DCE1EB"/>
            </a:solidFill>
            <a:prstDash val="solid"/>
          </a:ln>
        </p:spPr>
      </p:sp>
      <p:sp>
        <p:nvSpPr>
          <p:cNvPr id="23" name="Text 21"/>
          <p:cNvSpPr txBox="1"/>
          <p:nvPr/>
        </p:nvSpPr>
        <p:spPr>
          <a:xfrm>
            <a:off x="8353349" y="3465576"/>
            <a:ext cx="3033674" cy="603504"/>
          </a:xfrm>
          <a:prstGeom prst="rect">
            <a:avLst/>
          </a:prstGeom>
          <a:noFill/>
          <a:ln/>
        </p:spPr>
        <p:txBody>
          <a:bodyPr wrap="square" lIns="0" tIns="0" rIns="0" bIns="0" rtlCol="0" anchor="t"/>
          <a:lstStyle/>
          <a:p>
            <a:pPr indent="0" marL="0">
              <a:buNone/>
            </a:pPr>
            <a:r>
              <a:rPr lang="en-US" sz="1000" b="1" dirty="0">
                <a:solidFill>
                  <a:srgbClr val="108043"/>
                </a:solidFill>
                <a:latin typeface="Arial" pitchFamily="34" charset="0"/>
                <a:ea typeface="Arial" pitchFamily="34" charset="-122"/>
                <a:cs typeface="Arial" pitchFamily="34" charset="-120"/>
              </a:rPr>
              <a:t>Gate: </a:t>
            </a:r>
            <a:pPr indent="0" marL="0">
              <a:buNone/>
            </a:pPr>
            <a:r>
              <a:rPr lang="en-US" sz="1000" dirty="0">
                <a:solidFill>
                  <a:srgbClr val="1F2433"/>
                </a:solidFill>
                <a:latin typeface="Arial" pitchFamily="34" charset="0"/>
                <a:ea typeface="Arial" pitchFamily="34" charset="-122"/>
                <a:cs typeface="Arial" pitchFamily="34" charset="-120"/>
              </a:rPr>
              <a:t>Triggered-company retention at 92%+. $20M+ a year from the store and expert services.</a:t>
            </a:r>
            <a:endParaRPr lang="en-US" sz="1000" dirty="0"/>
          </a:p>
        </p:txBody>
      </p:sp>
      <p:sp>
        <p:nvSpPr>
          <p:cNvPr id="24" name="Text 22"/>
          <p:cNvSpPr txBox="1"/>
          <p:nvPr/>
        </p:nvSpPr>
        <p:spPr>
          <a:xfrm>
            <a:off x="548640" y="4389120"/>
            <a:ext cx="11094415"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RISKIEST ASSUMPTIONS AND THE FASTEST WAY TO TEST THEM</a:t>
            </a:r>
            <a:endParaRPr lang="en-US" sz="95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4645152"/>
          <a:ext cx="11094415" cy="914400"/>
        </p:xfrm>
        <a:graphic>
          <a:graphicData uri="http://schemas.openxmlformats.org/drawingml/2006/table">
            <a:tbl>
              <a:tblPr/>
              <a:tblGrid>
                <a:gridCol w="3383280"/>
                <a:gridCol w="5330952"/>
                <a:gridCol w="2377440"/>
              </a:tblGrid>
              <a:tr h="310896">
                <a:tc>
                  <a:txBody>
                    <a:bodyPr/>
                    <a:lstStyle/>
                    <a:p>
                      <a:pPr indent="0" marL="0">
                        <a:buNone/>
                      </a:pPr>
                      <a:r>
                        <a:rPr lang="en-US" sz="900" b="1" dirty="0">
                          <a:solidFill>
                            <a:srgbClr val="5A6275"/>
                          </a:solidFill>
                          <a:latin typeface="Arial" pitchFamily="34" charset="0"/>
                          <a:ea typeface="Arial" pitchFamily="34" charset="-122"/>
                          <a:cs typeface="Arial" pitchFamily="34" charset="-120"/>
                        </a:rPr>
                        <a:t>If this is wrong, Headroom fails</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Test</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900" b="1" dirty="0">
                          <a:solidFill>
                            <a:srgbClr val="5A6275"/>
                          </a:solidFill>
                          <a:latin typeface="Arial" pitchFamily="34" charset="0"/>
                          <a:ea typeface="Arial" pitchFamily="34" charset="-122"/>
                          <a:cs typeface="Arial" pitchFamily="34" charset="-120"/>
                        </a:rPr>
                        <a:t>Pass mark</a:t>
                      </a:r>
                      <a:endParaRPr lang="en-US" sz="9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393192">
                <a:tc>
                  <a:txBody>
                    <a:bodyPr/>
                    <a:lstStyle/>
                    <a:p>
                      <a:pPr indent="0" marL="0">
                        <a:buNone/>
                      </a:pPr>
                      <a:r>
                        <a:rPr lang="en-US" sz="1050" dirty="0">
                          <a:solidFill>
                            <a:srgbClr val="1F2433"/>
                          </a:solidFill>
                          <a:latin typeface="Arial" pitchFamily="34" charset="0"/>
                          <a:ea typeface="Arial" pitchFamily="34" charset="-122"/>
                          <a:cs typeface="Arial" pitchFamily="34" charset="-120"/>
                        </a:rPr>
                        <a:t>CFOs will act on a warning from Radar</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Analysts send hand-built Radar reports to 50 companies that just hit a trigger</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30% book a fix in 2 weeks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93192">
                <a:tc>
                  <a:txBody>
                    <a:bodyPr/>
                    <a:lstStyle/>
                    <a:p>
                      <a:pPr indent="0" marL="0">
                        <a:buNone/>
                      </a:pPr>
                      <a:r>
                        <a:rPr lang="en-US" sz="1050" dirty="0">
                          <a:solidFill>
                            <a:srgbClr val="1F2433"/>
                          </a:solidFill>
                          <a:latin typeface="Arial" pitchFamily="34" charset="0"/>
                          <a:ea typeface="Arial" pitchFamily="34" charset="-122"/>
                          <a:cs typeface="Arial" pitchFamily="34" charset="-120"/>
                        </a:rPr>
                        <a:t>CFOs will let a partner agent propose ledger entries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Fake-door Install button in the store, then 20 companies in shadow mode</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10% click, 70% keep it</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393192">
                <a:tc>
                  <a:txBody>
                    <a:bodyPr/>
                    <a:lstStyle/>
                    <a:p>
                      <a:pPr indent="0" marL="0">
                        <a:buNone/>
                      </a:pPr>
                      <a:r>
                        <a:rPr lang="en-US" sz="1050" dirty="0">
                          <a:solidFill>
                            <a:srgbClr val="1F2433"/>
                          </a:solidFill>
                          <a:latin typeface="Arial" pitchFamily="34" charset="0"/>
                          <a:ea typeface="Arial" pitchFamily="34" charset="-122"/>
                          <a:cs typeface="Arial" pitchFamily="34" charset="-120"/>
                        </a:rPr>
                        <a:t>Developers will build for IES demand</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Share 5 real demand cards with 100 App Partner Program developers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50" dirty="0">
                          <a:solidFill>
                            <a:srgbClr val="1F2433"/>
                          </a:solidFill>
                          <a:latin typeface="Arial" pitchFamily="34" charset="0"/>
                          <a:ea typeface="Arial" pitchFamily="34" charset="-122"/>
                          <a:cs typeface="Arial" pitchFamily="34" charset="-120"/>
                        </a:rPr>
                        <a:t>15 start building in 30 days</a:t>
                      </a:r>
                      <a:endParaRPr lang="en-US" sz="10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47472"/>
            <a:ext cx="11094415" cy="566928"/>
          </a:xfrm>
          <a:prstGeom prst="rect">
            <a:avLst/>
          </a:prstGeom>
          <a:noFill/>
          <a:ln/>
        </p:spPr>
        <p:txBody>
          <a:bodyPr wrap="square" lIns="0" tIns="0" rIns="0" bIns="0" rtlCol="0" anchor="t"/>
          <a:lstStyle/>
          <a:p>
            <a:pPr indent="0" marL="0">
              <a:buNone/>
            </a:pPr>
            <a:r>
              <a:rPr lang="en-US" sz="2600" b="1" dirty="0">
                <a:solidFill>
                  <a:srgbClr val="0D1B3E"/>
                </a:solidFill>
                <a:latin typeface="Arial" pitchFamily="34" charset="0"/>
                <a:ea typeface="Arial" pitchFamily="34" charset="-122"/>
                <a:cs typeface="Arial" pitchFamily="34" charset="-120"/>
              </a:rPr>
              <a:t>Risks, edge cases and trade-offs</a:t>
            </a:r>
            <a:endParaRPr lang="en-US" sz="2600" dirty="0"/>
          </a:p>
        </p:txBody>
      </p:sp>
      <p:sp>
        <p:nvSpPr>
          <p:cNvPr id="3" name="Text 1"/>
          <p:cNvSpPr txBox="1"/>
          <p:nvPr/>
        </p:nvSpPr>
        <p:spPr>
          <a:xfrm>
            <a:off x="548640" y="932688"/>
            <a:ext cx="11094415" cy="384048"/>
          </a:xfrm>
          <a:prstGeom prst="rect">
            <a:avLst/>
          </a:prstGeom>
          <a:noFill/>
          <a:ln/>
        </p:spPr>
        <p:txBody>
          <a:bodyPr wrap="square" lIns="0" tIns="0" rIns="0" bIns="0" rtlCol="0" anchor="t"/>
          <a:lstStyle/>
          <a:p>
            <a:pPr indent="0" marL="0">
              <a:buNone/>
            </a:pPr>
            <a:r>
              <a:rPr lang="en-US" sz="1300" dirty="0">
                <a:solidFill>
                  <a:srgbClr val="5A6275"/>
                </a:solidFill>
                <a:latin typeface="Arial" pitchFamily="34" charset="0"/>
                <a:ea typeface="Arial" pitchFamily="34" charset="-122"/>
                <a:cs typeface="Arial" pitchFamily="34" charset="-120"/>
              </a:rPr>
              <a:t>What could go wrong, what the product has to handle, and what I gave up on purpose.</a:t>
            </a:r>
            <a:endParaRPr lang="en-US" sz="1300" dirty="0"/>
          </a:p>
        </p:txBody>
      </p:sp>
      <p:sp>
        <p:nvSpPr>
          <p:cNvPr id="4" name="Text 2"/>
          <p:cNvSpPr txBox="1"/>
          <p:nvPr/>
        </p:nvSpPr>
        <p:spPr>
          <a:xfrm>
            <a:off x="548640" y="6446520"/>
            <a:ext cx="4572000" cy="228600"/>
          </a:xfrm>
          <a:prstGeom prst="rect">
            <a:avLst/>
          </a:prstGeom>
          <a:noFill/>
          <a:ln/>
        </p:spPr>
        <p:txBody>
          <a:bodyPr wrap="square" lIns="0" tIns="0" rIns="0" bIns="0" rtlCol="0" anchor="ctr"/>
          <a:lstStyle/>
          <a:p>
            <a:pPr indent="0" marL="0">
              <a:buNone/>
            </a:pPr>
            <a:r>
              <a:rPr lang="en-US" sz="900" dirty="0">
                <a:solidFill>
                  <a:srgbClr val="8A91A3"/>
                </a:solidFill>
                <a:latin typeface="Arial" pitchFamily="34" charset="0"/>
                <a:ea typeface="Arial" pitchFamily="34" charset="-122"/>
                <a:cs typeface="Arial" pitchFamily="34" charset="-120"/>
              </a:rPr>
              <a:t>Headroom  |  Intuit Enterprise Suite</a:t>
            </a:r>
            <a:endParaRPr lang="en-US" sz="900" dirty="0"/>
          </a:p>
        </p:txBody>
      </p:sp>
      <p:sp>
        <p:nvSpPr>
          <p:cNvPr id="5" name="Text 3"/>
          <p:cNvSpPr txBox="1"/>
          <p:nvPr/>
        </p:nvSpPr>
        <p:spPr>
          <a:xfrm>
            <a:off x="11185855" y="6446520"/>
            <a:ext cx="457200" cy="228600"/>
          </a:xfrm>
          <a:prstGeom prst="rect">
            <a:avLst/>
          </a:prstGeom>
          <a:noFill/>
          <a:ln/>
        </p:spPr>
        <p:txBody>
          <a:bodyPr wrap="square" lIns="0" tIns="0" rIns="0" bIns="0" rtlCol="0" anchor="ctr"/>
          <a:lstStyle/>
          <a:p>
            <a:pPr algn="r" indent="0" marL="0">
              <a:buNone/>
            </a:pPr>
            <a:r>
              <a:rPr lang="en-US" sz="900" dirty="0">
                <a:solidFill>
                  <a:srgbClr val="8A91A3"/>
                </a:solidFill>
                <a:latin typeface="Arial" pitchFamily="34" charset="0"/>
                <a:ea typeface="Arial" pitchFamily="34" charset="-122"/>
                <a:cs typeface="Arial" pitchFamily="34" charset="-120"/>
              </a:rPr>
              <a:t>10</a:t>
            </a:r>
            <a:endParaRPr lang="en-US" sz="900" dirty="0"/>
          </a:p>
        </p:txBody>
      </p:sp>
      <p:sp>
        <p:nvSpPr>
          <p:cNvPr id="6" name="Text 4"/>
          <p:cNvSpPr txBox="1"/>
          <p:nvPr/>
        </p:nvSpPr>
        <p:spPr>
          <a:xfrm>
            <a:off x="548640" y="1463040"/>
            <a:ext cx="7223760"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RISKS AND HOW WE REDUCE THEM</a:t>
            </a:r>
            <a:endParaRPr lang="en-US" sz="9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7223760" cy="914400"/>
        </p:xfrm>
        <a:graphic>
          <a:graphicData uri="http://schemas.openxmlformats.org/drawingml/2006/table">
            <a:tbl>
              <a:tblPr/>
              <a:tblGrid>
                <a:gridCol w="1920240"/>
                <a:gridCol w="5303520"/>
              </a:tblGrid>
              <a:tr h="310896">
                <a:tc>
                  <a:txBody>
                    <a:bodyPr/>
                    <a:lstStyle/>
                    <a:p>
                      <a:pPr indent="0" marL="0">
                        <a:buNone/>
                      </a:pPr>
                      <a:r>
                        <a:rPr lang="en-US" sz="850" b="1" dirty="0">
                          <a:solidFill>
                            <a:srgbClr val="5A6275"/>
                          </a:solidFill>
                          <a:latin typeface="Arial" pitchFamily="34" charset="0"/>
                          <a:ea typeface="Arial" pitchFamily="34" charset="-122"/>
                          <a:cs typeface="Arial" pitchFamily="34" charset="-120"/>
                        </a:rPr>
                        <a:t>Risk</a:t>
                      </a:r>
                      <a:endParaRPr lang="en-US" sz="8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c>
                  <a:txBody>
                    <a:bodyPr/>
                    <a:lstStyle/>
                    <a:p>
                      <a:pPr indent="0" marL="0">
                        <a:buNone/>
                      </a:pPr>
                      <a:r>
                        <a:rPr lang="en-US" sz="850" b="1" dirty="0">
                          <a:solidFill>
                            <a:srgbClr val="5A6275"/>
                          </a:solidFill>
                          <a:latin typeface="Arial" pitchFamily="34" charset="0"/>
                          <a:ea typeface="Arial" pitchFamily="34" charset="-122"/>
                          <a:cs typeface="Arial" pitchFamily="34" charset="-120"/>
                        </a:rPr>
                        <a:t>How we reduce it</a:t>
                      </a:r>
                      <a:endParaRPr lang="en-US" sz="85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EEF3FF"/>
                    </a:solidFill>
                  </a:tcPr>
                </a:tc>
              </a:tr>
              <a:tr h="512064">
                <a:tc>
                  <a:txBody>
                    <a:bodyPr/>
                    <a:lstStyle/>
                    <a:p>
                      <a:pPr indent="0" marL="0">
                        <a:buNone/>
                      </a:pPr>
                      <a:r>
                        <a:rPr lang="en-US" sz="1000" b="1" dirty="0">
                          <a:solidFill>
                            <a:srgbClr val="0D1B3E"/>
                          </a:solidFill>
                          <a:latin typeface="Arial" pitchFamily="34" charset="0"/>
                          <a:ea typeface="Arial" pitchFamily="34" charset="-122"/>
                          <a:cs typeface="Arial" pitchFamily="34" charset="-120"/>
                        </a:rPr>
                        <a:t>AI gets a number wrong</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Every figure must cite a source record. Writes are propose-only. Live accuracy under 98% drops the agent to read-only.</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0D1B3E"/>
                          </a:solidFill>
                          <a:latin typeface="Arial" pitchFamily="34" charset="0"/>
                          <a:ea typeface="Arial" pitchFamily="34" charset="-122"/>
                          <a:cs typeface="Arial" pitchFamily="34" charset="-120"/>
                        </a:rPr>
                        <a:t>Liability and compliance</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A person approves every posting. Tax, covenant and audit items need expert sign-off. Full log for auditors. Partners at L2+ carry insurance.</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0D1B3E"/>
                          </a:solidFill>
                          <a:latin typeface="Arial" pitchFamily="34" charset="0"/>
                          <a:ea typeface="Arial" pitchFamily="34" charset="-122"/>
                          <a:cs typeface="Arial" pitchFamily="34" charset="-120"/>
                        </a:rPr>
                        <a:t>Data privacy</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Agents run inside Intuit with scoped access and no export. Demand board shows groups of 50+ companies only.</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0D1B3E"/>
                          </a:solidFill>
                          <a:latin typeface="Arial" pitchFamily="34" charset="0"/>
                          <a:ea typeface="Arial" pitchFamily="34" charset="-122"/>
                          <a:cs typeface="Arial" pitchFamily="34" charset="-120"/>
                        </a:rPr>
                        <a:t>Accounting firms see a threat</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Firms can join as experts or publish their own agents and earn from both.</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r h="512064">
                <a:tc>
                  <a:txBody>
                    <a:bodyPr/>
                    <a:lstStyle/>
                    <a:p>
                      <a:pPr indent="0" marL="0">
                        <a:buNone/>
                      </a:pPr>
                      <a:r>
                        <a:rPr lang="en-US" sz="1000" b="1" dirty="0">
                          <a:solidFill>
                            <a:srgbClr val="0D1B3E"/>
                          </a:solidFill>
                          <a:latin typeface="Arial" pitchFamily="34" charset="0"/>
                          <a:ea typeface="Arial" pitchFamily="34" charset="-122"/>
                          <a:cs typeface="Arial" pitchFamily="34" charset="-120"/>
                        </a:rPr>
                        <a:t>Empty store at launch</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c>
                  <a:txBody>
                    <a:bodyPr/>
                    <a:lstStyle/>
                    <a:p>
                      <a:pPr indent="0" marL="0">
                        <a:buNone/>
                      </a:pPr>
                      <a:r>
                        <a:rPr lang="en-US" sz="1000" dirty="0">
                          <a:solidFill>
                            <a:srgbClr val="1F2433"/>
                          </a:solidFill>
                          <a:latin typeface="Arial" pitchFamily="34" charset="0"/>
                          <a:ea typeface="Arial" pitchFamily="34" charset="-122"/>
                          <a:cs typeface="Arial" pitchFamily="34" charset="-120"/>
                        </a:rPr>
                        <a:t>Intuit builds the first 10 agents from top demand. Launch partners get grants and early placement.</a:t>
                      </a:r>
                      <a:endParaRPr lang="en-US" sz="1000" dirty="0">
                        <a:latin typeface="Arial" charset="0"/>
                        <a:ea typeface="Arial" charset="0"/>
                        <a:cs typeface="Arial" charset="0"/>
                      </a:endParaRPr>
                    </a:p>
                  </a:txBody>
                  <a:tcPr marL="73152" marR="73152" marT="45720" marB="45720" anchor="ctr">
                    <a:lnL w="0" cap="flat" cmpd="sng" algn="ctr">
                      <a:noFill/>
                    </a:lnL>
                    <a:lnR w="0" cap="flat" cmpd="sng" algn="ctr">
                      <a:noFill/>
                    </a:lnR>
                    <a:lnT w="0" cap="flat" cmpd="sng" algn="ctr">
                      <a:noFill/>
                    </a:lnT>
                    <a:lnB w="9525" cap="flat" cmpd="sng" algn="ctr">
                      <a:solidFill>
                        <a:srgbClr val="DCE1EB"/>
                      </a:solidFill>
                      <a:prstDash val="solid"/>
                      <a:round/>
                      <a:headEnd type="none" w="med" len="med"/>
                      <a:tailEnd type="none" w="med" len="med"/>
                    </a:lnB>
                    <a:solidFill>
                      <a:srgbClr val="FFFFFF"/>
                    </a:solidFill>
                  </a:tcPr>
                </a:tc>
              </a:tr>
            </a:tbl>
          </a:graphicData>
        </a:graphic>
      </p:graphicFrame>
      <p:sp>
        <p:nvSpPr>
          <p:cNvPr id="8" name="Text 5"/>
          <p:cNvSpPr txBox="1"/>
          <p:nvPr/>
        </p:nvSpPr>
        <p:spPr>
          <a:xfrm>
            <a:off x="8046720" y="1463040"/>
            <a:ext cx="3596335"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EDGE CASES</a:t>
            </a:r>
            <a:endParaRPr lang="en-US" sz="950" dirty="0"/>
          </a:p>
        </p:txBody>
      </p:sp>
      <p:sp>
        <p:nvSpPr>
          <p:cNvPr id="9" name="Text 6"/>
          <p:cNvSpPr txBox="1"/>
          <p:nvPr/>
        </p:nvSpPr>
        <p:spPr>
          <a:xfrm>
            <a:off x="8046720" y="1737360"/>
            <a:ext cx="3596335" cy="2194560"/>
          </a:xfrm>
          <a:prstGeom prst="rect">
            <a:avLst/>
          </a:prstGeom>
          <a:noFill/>
          <a:ln/>
        </p:spPr>
        <p:txBody>
          <a:bodyPr wrap="square" lIns="0" tIns="0" rIns="0" bIns="0" rtlCol="0" anchor="t"/>
          <a:lstStyle/>
          <a:p>
            <a:pPr marL="152400" indent="-152400">
              <a:spcAft>
                <a:spcPts val="500"/>
              </a:spcAft>
              <a:buSzPct val="100000"/>
              <a:buChar char="•"/>
            </a:pPr>
            <a:r>
              <a:rPr lang="en-US" sz="1050" dirty="0">
                <a:solidFill>
                  <a:srgbClr val="1F2433"/>
                </a:solidFill>
                <a:latin typeface="Arial" pitchFamily="34" charset="0"/>
                <a:ea typeface="Arial" pitchFamily="34" charset="-122"/>
                <a:cs typeface="Arial" pitchFamily="34" charset="-120"/>
              </a:rPr>
              <a:t>Two agents try to post the same entry: one owner per account, the store blocks overlaps.</a:t>
            </a:r>
            <a:endParaRPr lang="en-US" sz="1050" dirty="0"/>
          </a:p>
          <a:p>
            <a:pPr marL="152400" indent="-152400">
              <a:spcAft>
                <a:spcPts val="500"/>
              </a:spcAft>
              <a:buSzPct val="100000"/>
              <a:buChar char="•"/>
            </a:pPr>
            <a:r>
              <a:rPr lang="en-US" sz="1050" dirty="0">
                <a:solidFill>
                  <a:srgbClr val="1F2433"/>
                </a:solidFill>
                <a:latin typeface="Arial" pitchFamily="34" charset="0"/>
                <a:ea typeface="Arial" pitchFamily="34" charset="-122"/>
                <a:cs typeface="Arial" pitchFamily="34" charset="-120"/>
              </a:rPr>
              <a:t>A partner shuts down: schedules and history stay in IES and Radar suggests a replacement.</a:t>
            </a:r>
            <a:endParaRPr lang="en-US" sz="1050" dirty="0"/>
          </a:p>
          <a:p>
            <a:pPr marL="152400" indent="-152400">
              <a:spcAft>
                <a:spcPts val="500"/>
              </a:spcAft>
              <a:buSzPct val="100000"/>
              <a:buChar char="•"/>
            </a:pPr>
            <a:r>
              <a:rPr lang="en-US" sz="1050" dirty="0">
                <a:solidFill>
                  <a:srgbClr val="1F2433"/>
                </a:solidFill>
                <a:latin typeface="Arial" pitchFamily="34" charset="0"/>
                <a:ea typeface="Arial" pitchFamily="34" charset="-122"/>
                <a:cs typeface="Arial" pitchFamily="34" charset="-120"/>
              </a:rPr>
              <a:t>The company shrinks or sells an entity: Radar handles it and pauses billing.</a:t>
            </a:r>
            <a:endParaRPr lang="en-US" sz="1050" dirty="0"/>
          </a:p>
          <a:p>
            <a:pPr marL="152400" indent="-152400">
              <a:spcAft>
                <a:spcPts val="500"/>
              </a:spcAft>
              <a:buSzPct val="100000"/>
              <a:buChar char="•"/>
            </a:pPr>
            <a:r>
              <a:rPr lang="en-US" sz="1050" dirty="0">
                <a:solidFill>
                  <a:srgbClr val="1F2433"/>
                </a:solidFill>
                <a:latin typeface="Arial" pitchFamily="34" charset="0"/>
                <a:ea typeface="Arial" pitchFamily="34" charset="-122"/>
                <a:cs typeface="Arial" pitchFamily="34" charset="-120"/>
              </a:rPr>
              <a:t>The client's own accountant disagrees with the Intuit expert: the client's firm decides and the note is logged.</a:t>
            </a:r>
            <a:endParaRPr lang="en-US" sz="1050" dirty="0"/>
          </a:p>
        </p:txBody>
      </p:sp>
      <p:sp>
        <p:nvSpPr>
          <p:cNvPr id="10" name="Text 7"/>
          <p:cNvSpPr txBox="1"/>
          <p:nvPr/>
        </p:nvSpPr>
        <p:spPr>
          <a:xfrm>
            <a:off x="8046720" y="4023360"/>
            <a:ext cx="3596335" cy="228600"/>
          </a:xfrm>
          <a:prstGeom prst="rect">
            <a:avLst/>
          </a:prstGeom>
          <a:noFill/>
          <a:ln/>
        </p:spPr>
        <p:txBody>
          <a:bodyPr wrap="square" lIns="0" tIns="0" rIns="0" bIns="0" rtlCol="0" anchor="t"/>
          <a:lstStyle/>
          <a:p>
            <a:pPr indent="0" marL="0">
              <a:buNone/>
            </a:pPr>
            <a:r>
              <a:rPr lang="en-US" sz="950" b="1" spc="150" kern="0" dirty="0">
                <a:solidFill>
                  <a:srgbClr val="1650C7"/>
                </a:solidFill>
                <a:latin typeface="Arial" pitchFamily="34" charset="0"/>
                <a:ea typeface="Arial" pitchFamily="34" charset="-122"/>
                <a:cs typeface="Arial" pitchFamily="34" charset="-120"/>
              </a:rPr>
              <a:t>TRADE-OFFS I CHOSE</a:t>
            </a:r>
            <a:endParaRPr lang="en-US" sz="950" dirty="0"/>
          </a:p>
        </p:txBody>
      </p:sp>
      <p:sp>
        <p:nvSpPr>
          <p:cNvPr id="11" name="Text 8"/>
          <p:cNvSpPr txBox="1"/>
          <p:nvPr/>
        </p:nvSpPr>
        <p:spPr>
          <a:xfrm>
            <a:off x="8046720" y="4297680"/>
            <a:ext cx="3596335" cy="2011680"/>
          </a:xfrm>
          <a:prstGeom prst="rect">
            <a:avLst/>
          </a:prstGeom>
          <a:noFill/>
          <a:ln/>
        </p:spPr>
        <p:txBody>
          <a:bodyPr wrap="square" lIns="0" tIns="0" rIns="0" bIns="0" rtlCol="0" anchor="t"/>
          <a:lstStyle/>
          <a:p>
            <a:pPr marL="152400" indent="-152400">
              <a:buSzPct val="100000"/>
              <a:buChar char="•"/>
            </a:pPr>
            <a:r>
              <a:rPr lang="en-US" sz="1050" b="1" dirty="0">
                <a:solidFill>
                  <a:srgbClr val="0D1B3E"/>
                </a:solidFill>
                <a:latin typeface="Arial" pitchFamily="34" charset="0"/>
                <a:ea typeface="Arial" pitchFamily="34" charset="-122"/>
                <a:cs typeface="Arial" pitchFamily="34" charset="-120"/>
              </a:rPr>
              <a:t>Safety over speed. </a:t>
            </a:r>
            <a:pPr indent="0" marL="0">
              <a:spcAft>
                <a:spcPts val="400"/>
              </a:spcAft>
              <a:buNone/>
            </a:pPr>
            <a:r>
              <a:rPr lang="en-US" sz="1050" dirty="0">
                <a:solidFill>
                  <a:srgbClr val="1F2433"/>
                </a:solidFill>
                <a:latin typeface="Arial" pitchFamily="34" charset="0"/>
                <a:ea typeface="Arial" pitchFamily="34" charset="-122"/>
                <a:cs typeface="Arial" pitchFamily="34" charset="-120"/>
              </a:rPr>
              <a:t>Agents start at approval-only, so the first wow moment is slower.</a:t>
            </a:r>
            <a:endParaRPr lang="en-US" sz="1050" dirty="0"/>
          </a:p>
          <a:p>
            <a:pPr marL="152400" indent="-152400">
              <a:buSzPct val="100000"/>
              <a:buChar char="•"/>
            </a:pPr>
            <a:r>
              <a:rPr lang="en-US" sz="1050" b="1" dirty="0">
                <a:solidFill>
                  <a:srgbClr val="0D1B3E"/>
                </a:solidFill>
                <a:latin typeface="Arial" pitchFamily="34" charset="0"/>
                <a:ea typeface="Arial" pitchFamily="34" charset="-122"/>
                <a:cs typeface="Arial" pitchFamily="34" charset="-120"/>
              </a:rPr>
              <a:t>Curated over open. </a:t>
            </a:r>
            <a:pPr indent="0" marL="0">
              <a:spcAft>
                <a:spcPts val="400"/>
              </a:spcAft>
              <a:buNone/>
            </a:pPr>
            <a:r>
              <a:rPr lang="en-US" sz="1050" dirty="0">
                <a:solidFill>
                  <a:srgbClr val="1F2433"/>
                </a:solidFill>
                <a:latin typeface="Arial" pitchFamily="34" charset="0"/>
                <a:ea typeface="Arial" pitchFamily="34" charset="-122"/>
                <a:cs typeface="Arial" pitchFamily="34" charset="-120"/>
              </a:rPr>
              <a:t>Verification limits early supply but protects trust.</a:t>
            </a:r>
            <a:endParaRPr lang="en-US" sz="1050" dirty="0"/>
          </a:p>
          <a:p>
            <a:pPr marL="152400" indent="-152400">
              <a:buSzPct val="100000"/>
              <a:buChar char="•"/>
            </a:pPr>
            <a:r>
              <a:rPr lang="en-US" sz="1050" b="1" dirty="0">
                <a:solidFill>
                  <a:srgbClr val="0D1B3E"/>
                </a:solidFill>
                <a:latin typeface="Arial" pitchFamily="34" charset="0"/>
                <a:ea typeface="Arial" pitchFamily="34" charset="-122"/>
                <a:cs typeface="Arial" pitchFamily="34" charset="-120"/>
              </a:rPr>
              <a:t>Free Radar. </a:t>
            </a:r>
            <a:pPr indent="0" marL="0">
              <a:spcAft>
                <a:spcPts val="400"/>
              </a:spcAft>
              <a:buNone/>
            </a:pPr>
            <a:r>
              <a:rPr lang="en-US" sz="1050" dirty="0">
                <a:solidFill>
                  <a:srgbClr val="1F2433"/>
                </a:solidFill>
                <a:latin typeface="Arial" pitchFamily="34" charset="0"/>
                <a:ea typeface="Arial" pitchFamily="34" charset="-122"/>
                <a:cs typeface="Arial" pitchFamily="34" charset="-120"/>
              </a:rPr>
              <a:t>Less direct revenue, more retention.</a:t>
            </a:r>
            <a:endParaRPr lang="en-US" sz="1050" dirty="0"/>
          </a:p>
          <a:p>
            <a:pPr marL="152400" indent="-152400">
              <a:buSzPct val="100000"/>
              <a:buChar char="•"/>
            </a:pPr>
            <a:r>
              <a:rPr lang="en-US" sz="1050" b="1" dirty="0">
                <a:solidFill>
                  <a:srgbClr val="0D1B3E"/>
                </a:solidFill>
                <a:latin typeface="Arial" pitchFamily="34" charset="0"/>
                <a:ea typeface="Arial" pitchFamily="34" charset="-122"/>
                <a:cs typeface="Arial" pitchFamily="34" charset="-120"/>
              </a:rPr>
              <a:t>15% share. </a:t>
            </a:r>
            <a:pPr indent="0" marL="0">
              <a:spcAft>
                <a:spcPts val="400"/>
              </a:spcAft>
              <a:buNone/>
            </a:pPr>
            <a:r>
              <a:rPr lang="en-US" sz="1050" dirty="0">
                <a:solidFill>
                  <a:srgbClr val="1F2433"/>
                </a:solidFill>
                <a:latin typeface="Arial" pitchFamily="34" charset="0"/>
                <a:ea typeface="Arial" pitchFamily="34" charset="-122"/>
                <a:cs typeface="Arial" pitchFamily="34" charset="-120"/>
              </a:rPr>
              <a:t>Lower take rate to pull developers from NetSuite.</a:t>
            </a:r>
            <a:endParaRPr lang="en-US" sz="1050" dirty="0"/>
          </a:p>
        </p:txBody>
      </p:sp>
      <p:sp>
        <p:nvSpPr>
          <p:cNvPr id="12" name="Shape 9"/>
          <p:cNvSpPr/>
          <p:nvPr/>
        </p:nvSpPr>
        <p:spPr>
          <a:xfrm>
            <a:off x="548640" y="4983480"/>
            <a:ext cx="7223760" cy="1051560"/>
          </a:xfrm>
          <a:prstGeom prst="roundRect">
            <a:avLst>
              <a:gd name="adj" fmla="val 6957"/>
            </a:avLst>
          </a:prstGeom>
          <a:solidFill>
            <a:srgbClr val="FFF3E0"/>
          </a:solidFill>
          <a:ln w="9525">
            <a:solidFill>
              <a:srgbClr val="FFF3E0"/>
            </a:solidFill>
            <a:prstDash val="solid"/>
          </a:ln>
        </p:spPr>
      </p:sp>
      <p:sp>
        <p:nvSpPr>
          <p:cNvPr id="13" name="Text 10"/>
          <p:cNvSpPr txBox="1"/>
          <p:nvPr/>
        </p:nvSpPr>
        <p:spPr>
          <a:xfrm>
            <a:off x="749808" y="5093208"/>
            <a:ext cx="6766560" cy="228600"/>
          </a:xfrm>
          <a:prstGeom prst="rect">
            <a:avLst/>
          </a:prstGeom>
          <a:noFill/>
          <a:ln/>
        </p:spPr>
        <p:txBody>
          <a:bodyPr wrap="square" lIns="0" tIns="0" rIns="0" bIns="0" rtlCol="0" anchor="t"/>
          <a:lstStyle/>
          <a:p>
            <a:pPr indent="0" marL="0">
              <a:buNone/>
            </a:pPr>
            <a:r>
              <a:rPr lang="en-US" sz="950" b="1" spc="150" kern="0" dirty="0">
                <a:solidFill>
                  <a:srgbClr val="B25E00"/>
                </a:solidFill>
                <a:latin typeface="Arial" pitchFamily="34" charset="0"/>
                <a:ea typeface="Arial" pitchFamily="34" charset="-122"/>
                <a:cs typeface="Arial" pitchFamily="34" charset="-120"/>
              </a:rPr>
              <a:t>KEY ASSUMPTIONS (INTUIT DOES NOT PUBLISH THESE)</a:t>
            </a:r>
            <a:endParaRPr lang="en-US" sz="950" dirty="0"/>
          </a:p>
        </p:txBody>
      </p:sp>
      <p:sp>
        <p:nvSpPr>
          <p:cNvPr id="14" name="Text 11"/>
          <p:cNvSpPr txBox="1"/>
          <p:nvPr/>
        </p:nvSpPr>
        <p:spPr>
          <a:xfrm>
            <a:off x="749808" y="5349240"/>
            <a:ext cx="6821424" cy="914400"/>
          </a:xfrm>
          <a:prstGeom prst="rect">
            <a:avLst/>
          </a:prstGeom>
          <a:noFill/>
          <a:ln/>
        </p:spPr>
        <p:txBody>
          <a:bodyPr wrap="square" lIns="0" tIns="0" rIns="0" bIns="0" rtlCol="0" anchor="t"/>
          <a:lstStyle/>
          <a:p>
            <a:pPr indent="0" marL="0">
              <a:buNone/>
            </a:pPr>
            <a:r>
              <a:rPr lang="en-US" sz="1050" dirty="0">
                <a:solidFill>
                  <a:srgbClr val="0D1B3E"/>
                </a:solidFill>
                <a:latin typeface="Arial" pitchFamily="34" charset="0"/>
                <a:ea typeface="Arial" pitchFamily="34" charset="-122"/>
                <a:cs typeface="Arial" pitchFamily="34" charset="-120"/>
              </a:rPr>
              <a:t>About 20,000 IES companies by 2027 at about $25k a year each. 30% hit a major trigger each year and churn at 20% today. 30% install a paid agent by year 3, at 1.5 agents and $9k a year each. An expert review takes about 15 minutes.</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Headroom for Intuit Enterprise Suite</dc:title>
  <dc:subject>PptxGenJS Presentation</dc:subject>
  <dc:creator>PptxGenJS</dc:creator>
  <cp:lastModifiedBy>PptxGenJS</cp:lastModifiedBy>
  <cp:revision>1</cp:revision>
  <dcterms:created xsi:type="dcterms:W3CDTF">2026-09-24T12:42:34Z</dcterms:created>
  <dcterms:modified xsi:type="dcterms:W3CDTF">2026-09-24T12:42:34Z</dcterms:modified>
</cp:coreProperties>
</file>